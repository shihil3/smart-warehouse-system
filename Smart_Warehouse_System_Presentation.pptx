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50" d="100"/>
          <a:sy n="50" d="100"/>
        </p:scale>
        <p:origin x="1906" y="6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7315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784848"/>
            <a:ext cx="12188952" cy="7315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73152"/>
            <a:ext cx="54864" cy="6711696"/>
          </a:xfrm>
          <a:prstGeom prst="rect">
            <a:avLst/>
          </a:prstGeom>
          <a:solidFill>
            <a:srgbClr val="90E0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371600" y="1280160"/>
            <a:ext cx="9445752" cy="4389120"/>
          </a:xfrm>
          <a:prstGeom prst="rect">
            <a:avLst/>
          </a:prstGeom>
          <a:solidFill>
            <a:srgbClr val="1626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371600" y="1280160"/>
            <a:ext cx="9445752" cy="54864"/>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554480" y="1463040"/>
            <a:ext cx="9052560" cy="1005840"/>
          </a:xfrm>
          <a:prstGeom prst="rect">
            <a:avLst/>
          </a:prstGeom>
          <a:noFill/>
        </p:spPr>
        <p:txBody>
          <a:bodyPr wrap="square">
            <a:spAutoFit/>
          </a:bodyPr>
          <a:lstStyle/>
          <a:p>
            <a:pPr algn="ctr"/>
            <a:r>
              <a:rPr sz="3400" b="1" i="0">
                <a:solidFill>
                  <a:srgbClr val="FFFFFF"/>
                </a:solidFill>
              </a:rPr>
              <a:t>Smart Warehouse Management System</a:t>
            </a:r>
          </a:p>
        </p:txBody>
      </p:sp>
      <p:sp>
        <p:nvSpPr>
          <p:cNvPr id="9" name="TextBox 8"/>
          <p:cNvSpPr txBox="1"/>
          <p:nvPr/>
        </p:nvSpPr>
        <p:spPr>
          <a:xfrm>
            <a:off x="1554480" y="2423160"/>
            <a:ext cx="9052560" cy="822960"/>
          </a:xfrm>
          <a:prstGeom prst="rect">
            <a:avLst/>
          </a:prstGeom>
          <a:noFill/>
        </p:spPr>
        <p:txBody>
          <a:bodyPr wrap="square">
            <a:spAutoFit/>
          </a:bodyPr>
          <a:lstStyle/>
          <a:p>
            <a:pPr algn="ctr"/>
            <a:r>
              <a:rPr sz="1600" b="0" i="1">
                <a:solidFill>
                  <a:srgbClr val="A8D8EA"/>
                </a:solidFill>
              </a:rPr>
              <a:t>An Intelligent Platform for Real-Time Pallet Tracking,
Task Dispatch &amp; Warehouse Optimisation</a:t>
            </a:r>
          </a:p>
        </p:txBody>
      </p:sp>
      <p:sp>
        <p:nvSpPr>
          <p:cNvPr id="10" name="Rectangle 9"/>
          <p:cNvSpPr/>
          <p:nvPr/>
        </p:nvSpPr>
        <p:spPr>
          <a:xfrm>
            <a:off x="2432304" y="3337560"/>
            <a:ext cx="7315200" cy="2743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554480" y="3474720"/>
            <a:ext cx="9052560" cy="457200"/>
          </a:xfrm>
          <a:prstGeom prst="rect">
            <a:avLst/>
          </a:prstGeom>
          <a:noFill/>
        </p:spPr>
        <p:txBody>
          <a:bodyPr wrap="square">
            <a:spAutoFit/>
          </a:bodyPr>
          <a:lstStyle/>
          <a:p>
            <a:pPr algn="ctr"/>
            <a:r>
              <a:rPr sz="1400" b="0" i="0">
                <a:solidFill>
                  <a:srgbClr val="CCD6E0"/>
                </a:solidFill>
              </a:rPr>
              <a:t>Final Year Project  |  B.E. Computer Science &amp; Engineering</a:t>
            </a:r>
          </a:p>
        </p:txBody>
      </p:sp>
      <p:sp>
        <p:nvSpPr>
          <p:cNvPr id="12" name="TextBox 11"/>
          <p:cNvSpPr txBox="1"/>
          <p:nvPr/>
        </p:nvSpPr>
        <p:spPr>
          <a:xfrm>
            <a:off x="1554480" y="3977639"/>
            <a:ext cx="9052560" cy="365760"/>
          </a:xfrm>
          <a:prstGeom prst="rect">
            <a:avLst/>
          </a:prstGeom>
          <a:noFill/>
        </p:spPr>
        <p:txBody>
          <a:bodyPr wrap="square">
            <a:spAutoFit/>
          </a:bodyPr>
          <a:lstStyle/>
          <a:p>
            <a:pPr algn="ctr"/>
            <a:r>
              <a:rPr sz="1300" b="0" i="1">
                <a:solidFill>
                  <a:srgbClr val="A8D8EA"/>
                </a:solidFill>
              </a:rPr>
              <a:t>Supervised by: [Supervisor Name]</a:t>
            </a:r>
          </a:p>
        </p:txBody>
      </p:sp>
      <p:sp>
        <p:nvSpPr>
          <p:cNvPr id="13" name="TextBox 12"/>
          <p:cNvSpPr txBox="1"/>
          <p:nvPr/>
        </p:nvSpPr>
        <p:spPr>
          <a:xfrm>
            <a:off x="1554480" y="4434840"/>
            <a:ext cx="9052560" cy="365760"/>
          </a:xfrm>
          <a:prstGeom prst="rect">
            <a:avLst/>
          </a:prstGeom>
          <a:noFill/>
        </p:spPr>
        <p:txBody>
          <a:bodyPr wrap="square">
            <a:spAutoFit/>
          </a:bodyPr>
          <a:lstStyle/>
          <a:p>
            <a:pPr algn="ctr"/>
            <a:r>
              <a:rPr sz="1300" b="1" i="0">
                <a:solidFill>
                  <a:srgbClr val="FFD166"/>
                </a:solidFill>
              </a:rPr>
              <a:t>April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51560"/>
          </a:xfrm>
          <a:prstGeom prst="rect">
            <a:avLst/>
          </a:prstGeom>
          <a:solidFill>
            <a:srgbClr val="1626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24128"/>
            <a:ext cx="12188952" cy="457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73152"/>
            <a:ext cx="11430000" cy="640080"/>
          </a:xfrm>
          <a:prstGeom prst="rect">
            <a:avLst/>
          </a:prstGeom>
          <a:noFill/>
        </p:spPr>
        <p:txBody>
          <a:bodyPr wrap="square">
            <a:spAutoFit/>
          </a:bodyPr>
          <a:lstStyle/>
          <a:p>
            <a:pPr algn="l"/>
            <a:r>
              <a:rPr sz="2800" b="1" i="0">
                <a:solidFill>
                  <a:srgbClr val="00B4D8"/>
                </a:solidFill>
              </a:rPr>
              <a:t>Abstract</a:t>
            </a:r>
          </a:p>
        </p:txBody>
      </p:sp>
      <p:sp>
        <p:nvSpPr>
          <p:cNvPr id="6" name="TextBox 5"/>
          <p:cNvSpPr txBox="1"/>
          <p:nvPr/>
        </p:nvSpPr>
        <p:spPr>
          <a:xfrm>
            <a:off x="365760" y="658368"/>
            <a:ext cx="11430000" cy="347472"/>
          </a:xfrm>
          <a:prstGeom prst="rect">
            <a:avLst/>
          </a:prstGeom>
          <a:noFill/>
        </p:spPr>
        <p:txBody>
          <a:bodyPr wrap="square">
            <a:spAutoFit/>
          </a:bodyPr>
          <a:lstStyle/>
          <a:p>
            <a:pPr algn="l"/>
            <a:r>
              <a:rPr sz="1300" b="0" i="1">
                <a:solidFill>
                  <a:srgbClr val="A8D8EA"/>
                </a:solidFill>
              </a:rPr>
              <a:t>Overview of the Smart Warehouse Management System</a:t>
            </a:r>
          </a:p>
        </p:txBody>
      </p:sp>
      <p:sp>
        <p:nvSpPr>
          <p:cNvPr id="7" name="TextBox 6"/>
          <p:cNvSpPr txBox="1"/>
          <p:nvPr/>
        </p:nvSpPr>
        <p:spPr>
          <a:xfrm>
            <a:off x="457200" y="1188720"/>
            <a:ext cx="11274552" cy="5303520"/>
          </a:xfrm>
          <a:prstGeom prst="rect">
            <a:avLst/>
          </a:prstGeom>
          <a:noFill/>
        </p:spPr>
        <p:txBody>
          <a:bodyPr wrap="square">
            <a:spAutoFit/>
          </a:bodyPr>
          <a:lstStyle/>
          <a:p>
            <a:r>
              <a:rPr sz="1400">
                <a:solidFill>
                  <a:srgbClr val="CCD6E0"/>
                </a:solidFill>
              </a:rPr>
              <a:t>The Smart Warehouse Management System (SWMS) is a full-stack, real-time warehouse operations platform engineered to modernise the traditional manual-driven warehouse into a data-driven, optimised facility. The system orchestrates every stage of pallet life-cycle — from inbound truck arrival and QR-code scanning, through intelligent rack-level storage assignment, to cross-dock sequencing and outbound truck departure — using a tri-service architecture comprising a Ruby/Sinatra REST API, a React 19 single-page application, and a Python/FastAPI optimisation engine.
At its core, SWMS employs a multi-factor scoring algorithm that evaluates pallet priority, truck departure deadlines, geographic proximity, dock congestion, and anti-starvation aging to produce an optimal movement sequence delivered to workers in real-time via Server-Sent Events (SSE). Role-based access control (manager, leadman, worker) governs the system, while comprehensive KPI dashboards provide instant visibility into throughput, dwell time, rack occupancy, and worker productivity.
The platform targets Tamil Nadu logistics corridors — routing goods across Chennai, Coimbatore, Madurai, Trichy, Salem, Tirunelveli, Erode and Pondicherry — demonstrating practical applicability in a regional supply-chain context.</a:t>
            </a:r>
          </a:p>
        </p:txBody>
      </p:sp>
      <p:sp>
        <p:nvSpPr>
          <p:cNvPr id="8" name="Rectangle 7"/>
          <p:cNvSpPr/>
          <p:nvPr/>
        </p:nvSpPr>
        <p:spPr>
          <a:xfrm>
            <a:off x="457200" y="6172200"/>
            <a:ext cx="2286000" cy="411480"/>
          </a:xfrm>
          <a:prstGeom prst="rect">
            <a:avLst/>
          </a:prstGeom>
          <a:solidFill>
            <a:srgbClr val="0077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6199632"/>
            <a:ext cx="2194560" cy="347472"/>
          </a:xfrm>
          <a:prstGeom prst="rect">
            <a:avLst/>
          </a:prstGeom>
          <a:noFill/>
        </p:spPr>
        <p:txBody>
          <a:bodyPr wrap="square">
            <a:spAutoFit/>
          </a:bodyPr>
          <a:lstStyle/>
          <a:p>
            <a:pPr algn="ctr"/>
            <a:r>
              <a:rPr sz="1100" b="0" i="0">
                <a:solidFill>
                  <a:srgbClr val="FFFFFF"/>
                </a:solidFill>
              </a:rPr>
              <a:t>Warehouse Management</a:t>
            </a:r>
          </a:p>
        </p:txBody>
      </p:sp>
      <p:sp>
        <p:nvSpPr>
          <p:cNvPr id="10" name="Rectangle 9"/>
          <p:cNvSpPr/>
          <p:nvPr/>
        </p:nvSpPr>
        <p:spPr>
          <a:xfrm>
            <a:off x="2926080" y="6172200"/>
            <a:ext cx="2011680" cy="411480"/>
          </a:xfrm>
          <a:prstGeom prst="rect">
            <a:avLst/>
          </a:prstGeom>
          <a:solidFill>
            <a:srgbClr val="0077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971800" y="6199632"/>
            <a:ext cx="1920240" cy="347472"/>
          </a:xfrm>
          <a:prstGeom prst="rect">
            <a:avLst/>
          </a:prstGeom>
          <a:noFill/>
        </p:spPr>
        <p:txBody>
          <a:bodyPr wrap="square">
            <a:spAutoFit/>
          </a:bodyPr>
          <a:lstStyle/>
          <a:p>
            <a:pPr algn="ctr"/>
            <a:r>
              <a:rPr sz="1100" b="0" i="0">
                <a:solidFill>
                  <a:srgbClr val="FFFFFF"/>
                </a:solidFill>
              </a:rPr>
              <a:t>Real-Time Optimisation</a:t>
            </a:r>
          </a:p>
        </p:txBody>
      </p:sp>
      <p:sp>
        <p:nvSpPr>
          <p:cNvPr id="12" name="Rectangle 11"/>
          <p:cNvSpPr/>
          <p:nvPr/>
        </p:nvSpPr>
        <p:spPr>
          <a:xfrm>
            <a:off x="5120640" y="6172200"/>
            <a:ext cx="1828800" cy="411480"/>
          </a:xfrm>
          <a:prstGeom prst="rect">
            <a:avLst/>
          </a:prstGeom>
          <a:solidFill>
            <a:srgbClr val="0077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166360" y="6199632"/>
            <a:ext cx="1737360" cy="347472"/>
          </a:xfrm>
          <a:prstGeom prst="rect">
            <a:avLst/>
          </a:prstGeom>
          <a:noFill/>
        </p:spPr>
        <p:txBody>
          <a:bodyPr wrap="square">
            <a:spAutoFit/>
          </a:bodyPr>
          <a:lstStyle/>
          <a:p>
            <a:pPr algn="ctr"/>
            <a:r>
              <a:rPr sz="1100" b="0" i="0">
                <a:solidFill>
                  <a:srgbClr val="FFFFFF"/>
                </a:solidFill>
              </a:rPr>
              <a:t>QR Code Tracking</a:t>
            </a:r>
          </a:p>
        </p:txBody>
      </p:sp>
      <p:sp>
        <p:nvSpPr>
          <p:cNvPr id="14" name="Rectangle 13"/>
          <p:cNvSpPr/>
          <p:nvPr/>
        </p:nvSpPr>
        <p:spPr>
          <a:xfrm>
            <a:off x="7132320" y="6172200"/>
            <a:ext cx="1737360" cy="411480"/>
          </a:xfrm>
          <a:prstGeom prst="rect">
            <a:avLst/>
          </a:prstGeom>
          <a:solidFill>
            <a:srgbClr val="0077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178040" y="6199632"/>
            <a:ext cx="1645920" cy="347472"/>
          </a:xfrm>
          <a:prstGeom prst="rect">
            <a:avLst/>
          </a:prstGeom>
          <a:noFill/>
        </p:spPr>
        <p:txBody>
          <a:bodyPr wrap="square">
            <a:spAutoFit/>
          </a:bodyPr>
          <a:lstStyle/>
          <a:p>
            <a:pPr algn="ctr"/>
            <a:r>
              <a:rPr sz="1100" b="0" i="0">
                <a:solidFill>
                  <a:srgbClr val="FFFFFF"/>
                </a:solidFill>
              </a:rPr>
              <a:t>Role-Based Access</a:t>
            </a:r>
          </a:p>
        </p:txBody>
      </p:sp>
      <p:sp>
        <p:nvSpPr>
          <p:cNvPr id="16" name="Rectangle 15"/>
          <p:cNvSpPr/>
          <p:nvPr/>
        </p:nvSpPr>
        <p:spPr>
          <a:xfrm>
            <a:off x="9052560" y="6172200"/>
            <a:ext cx="1920240" cy="411480"/>
          </a:xfrm>
          <a:prstGeom prst="rect">
            <a:avLst/>
          </a:prstGeom>
          <a:solidFill>
            <a:srgbClr val="0077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098280" y="6199632"/>
            <a:ext cx="1828800" cy="347472"/>
          </a:xfrm>
          <a:prstGeom prst="rect">
            <a:avLst/>
          </a:prstGeom>
          <a:noFill/>
        </p:spPr>
        <p:txBody>
          <a:bodyPr wrap="square">
            <a:spAutoFit/>
          </a:bodyPr>
          <a:lstStyle/>
          <a:p>
            <a:pPr algn="ctr"/>
            <a:r>
              <a:rPr sz="1100" b="0" i="0">
                <a:solidFill>
                  <a:srgbClr val="FFFFFF"/>
                </a:solidFill>
              </a:rPr>
              <a:t>Supply Chain Analytics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51560"/>
          </a:xfrm>
          <a:prstGeom prst="rect">
            <a:avLst/>
          </a:prstGeom>
          <a:solidFill>
            <a:srgbClr val="1626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24128"/>
            <a:ext cx="12188952" cy="457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73152"/>
            <a:ext cx="11430000" cy="640080"/>
          </a:xfrm>
          <a:prstGeom prst="rect">
            <a:avLst/>
          </a:prstGeom>
          <a:noFill/>
        </p:spPr>
        <p:txBody>
          <a:bodyPr wrap="square">
            <a:spAutoFit/>
          </a:bodyPr>
          <a:lstStyle/>
          <a:p>
            <a:pPr algn="l"/>
            <a:r>
              <a:rPr sz="2800" b="1" i="0">
                <a:solidFill>
                  <a:srgbClr val="00B4D8"/>
                </a:solidFill>
              </a:rPr>
              <a:t>Problem Statement</a:t>
            </a:r>
          </a:p>
        </p:txBody>
      </p:sp>
      <p:sp>
        <p:nvSpPr>
          <p:cNvPr id="6" name="TextBox 5"/>
          <p:cNvSpPr txBox="1"/>
          <p:nvPr/>
        </p:nvSpPr>
        <p:spPr>
          <a:xfrm>
            <a:off x="365760" y="658368"/>
            <a:ext cx="11430000" cy="347472"/>
          </a:xfrm>
          <a:prstGeom prst="rect">
            <a:avLst/>
          </a:prstGeom>
          <a:noFill/>
        </p:spPr>
        <p:txBody>
          <a:bodyPr wrap="square">
            <a:spAutoFit/>
          </a:bodyPr>
          <a:lstStyle/>
          <a:p>
            <a:pPr algn="l"/>
            <a:r>
              <a:rPr sz="1300" b="0" i="1">
                <a:solidFill>
                  <a:srgbClr val="A8D8EA"/>
                </a:solidFill>
              </a:rPr>
              <a:t>Challenges in Traditional Warehouse Operations</a:t>
            </a:r>
          </a:p>
        </p:txBody>
      </p:sp>
      <p:sp>
        <p:nvSpPr>
          <p:cNvPr id="7" name="Rectangle 6"/>
          <p:cNvSpPr/>
          <p:nvPr/>
        </p:nvSpPr>
        <p:spPr>
          <a:xfrm>
            <a:off x="274320" y="1188720"/>
            <a:ext cx="3749039" cy="2423160"/>
          </a:xfrm>
          <a:prstGeom prst="rect">
            <a:avLst/>
          </a:prstGeom>
          <a:solidFill>
            <a:srgbClr val="14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11479" y="1280160"/>
            <a:ext cx="3474720" cy="2240279"/>
          </a:xfrm>
          <a:prstGeom prst="rect">
            <a:avLst/>
          </a:prstGeom>
          <a:noFill/>
        </p:spPr>
        <p:txBody>
          <a:bodyPr wrap="square">
            <a:spAutoFit/>
          </a:bodyPr>
          <a:lstStyle/>
          <a:p>
            <a:pPr algn="l"/>
            <a:r>
              <a:rPr sz="1500" b="1">
                <a:solidFill>
                  <a:srgbClr val="00B4D8"/>
                </a:solidFill>
              </a:rPr>
              <a:t>Manual Pallet Tracking</a:t>
            </a:r>
          </a:p>
          <a:p>
            <a:pPr algn="l">
              <a:spcBef>
                <a:spcPts val="0"/>
              </a:spcBef>
            </a:pPr>
            <a:r>
              <a:rPr sz="1200" b="0" i="0">
                <a:solidFill>
                  <a:srgbClr val="CCD6E0"/>
                </a:solidFill>
              </a:rPr>
              <a:t>Paper-based or spreadsheet records cause
mis-placement and loss of pallets</a:t>
            </a:r>
          </a:p>
          <a:p>
            <a:pPr algn="l">
              <a:spcBef>
                <a:spcPts val="0"/>
              </a:spcBef>
            </a:pPr>
            <a:r>
              <a:rPr sz="1200" b="0" i="0">
                <a:solidFill>
                  <a:srgbClr val="CCD6E0"/>
                </a:solidFill>
              </a:rPr>
              <a:t>No real-time visibility into pallet location
or movement status</a:t>
            </a:r>
          </a:p>
        </p:txBody>
      </p:sp>
      <p:sp>
        <p:nvSpPr>
          <p:cNvPr id="9" name="Rectangle 8"/>
          <p:cNvSpPr/>
          <p:nvPr/>
        </p:nvSpPr>
        <p:spPr>
          <a:xfrm>
            <a:off x="4251960" y="1188720"/>
            <a:ext cx="3749039" cy="2423160"/>
          </a:xfrm>
          <a:prstGeom prst="rect">
            <a:avLst/>
          </a:prstGeom>
          <a:solidFill>
            <a:srgbClr val="14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389120" y="1280160"/>
            <a:ext cx="3474720" cy="2240279"/>
          </a:xfrm>
          <a:prstGeom prst="rect">
            <a:avLst/>
          </a:prstGeom>
          <a:noFill/>
        </p:spPr>
        <p:txBody>
          <a:bodyPr wrap="square">
            <a:spAutoFit/>
          </a:bodyPr>
          <a:lstStyle/>
          <a:p>
            <a:pPr algn="l"/>
            <a:r>
              <a:rPr sz="1500" b="1">
                <a:solidFill>
                  <a:srgbClr val="00B4D8"/>
                </a:solidFill>
              </a:rPr>
              <a:t>Inefficient Task Dispatch</a:t>
            </a:r>
          </a:p>
          <a:p>
            <a:pPr algn="l">
              <a:spcBef>
                <a:spcPts val="0"/>
              </a:spcBef>
            </a:pPr>
            <a:r>
              <a:rPr sz="1200" b="0" i="0">
                <a:solidFill>
                  <a:srgbClr val="CCD6E0"/>
                </a:solidFill>
              </a:rPr>
              <a:t>Workers idle while high-priority shipments
wait — no intelligent sequencing</a:t>
            </a:r>
          </a:p>
          <a:p>
            <a:pPr algn="l">
              <a:spcBef>
                <a:spcPts val="0"/>
              </a:spcBef>
            </a:pPr>
            <a:r>
              <a:rPr sz="1200" b="0" i="0">
                <a:solidFill>
                  <a:srgbClr val="CCD6E0"/>
                </a:solidFill>
              </a:rPr>
              <a:t>No mechanism to batch pallets destined
for the same truck or dock</a:t>
            </a:r>
          </a:p>
        </p:txBody>
      </p:sp>
      <p:sp>
        <p:nvSpPr>
          <p:cNvPr id="11" name="Rectangle 10"/>
          <p:cNvSpPr/>
          <p:nvPr/>
        </p:nvSpPr>
        <p:spPr>
          <a:xfrm>
            <a:off x="8229600" y="1188720"/>
            <a:ext cx="3749039" cy="2423160"/>
          </a:xfrm>
          <a:prstGeom prst="rect">
            <a:avLst/>
          </a:prstGeom>
          <a:solidFill>
            <a:srgbClr val="14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366760" y="1280160"/>
            <a:ext cx="3474720" cy="2240279"/>
          </a:xfrm>
          <a:prstGeom prst="rect">
            <a:avLst/>
          </a:prstGeom>
          <a:noFill/>
        </p:spPr>
        <p:txBody>
          <a:bodyPr wrap="square">
            <a:spAutoFit/>
          </a:bodyPr>
          <a:lstStyle/>
          <a:p>
            <a:pPr algn="l"/>
            <a:r>
              <a:rPr sz="1500" b="1">
                <a:solidFill>
                  <a:srgbClr val="00B4D8"/>
                </a:solidFill>
              </a:rPr>
              <a:t>Dock Congestion &amp; Deadlines Missed</a:t>
            </a:r>
          </a:p>
          <a:p>
            <a:pPr algn="l">
              <a:spcBef>
                <a:spcPts val="0"/>
              </a:spcBef>
            </a:pPr>
            <a:r>
              <a:rPr sz="1200" b="0" i="0">
                <a:solidFill>
                  <a:srgbClr val="CCD6E0"/>
                </a:solidFill>
              </a:rPr>
              <a:t>Multiple trucks competing for limited docks
cause delays and missed SLAs</a:t>
            </a:r>
          </a:p>
          <a:p>
            <a:pPr algn="l">
              <a:spcBef>
                <a:spcPts val="0"/>
              </a:spcBef>
            </a:pPr>
            <a:r>
              <a:rPr sz="1200" b="0" i="0">
                <a:solidFill>
                  <a:srgbClr val="CCD6E0"/>
                </a:solidFill>
              </a:rPr>
              <a:t>Departure deadlines routinely missed due
to poor load planning</a:t>
            </a:r>
          </a:p>
        </p:txBody>
      </p:sp>
      <p:sp>
        <p:nvSpPr>
          <p:cNvPr id="13" name="Rectangle 12"/>
          <p:cNvSpPr/>
          <p:nvPr/>
        </p:nvSpPr>
        <p:spPr>
          <a:xfrm>
            <a:off x="274320" y="3794760"/>
            <a:ext cx="3749039" cy="2423160"/>
          </a:xfrm>
          <a:prstGeom prst="rect">
            <a:avLst/>
          </a:prstGeom>
          <a:solidFill>
            <a:srgbClr val="14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11479" y="3886200"/>
            <a:ext cx="3474720" cy="2240279"/>
          </a:xfrm>
          <a:prstGeom prst="rect">
            <a:avLst/>
          </a:prstGeom>
          <a:noFill/>
        </p:spPr>
        <p:txBody>
          <a:bodyPr wrap="square">
            <a:spAutoFit/>
          </a:bodyPr>
          <a:lstStyle/>
          <a:p>
            <a:pPr algn="l"/>
            <a:r>
              <a:rPr sz="1500" b="1">
                <a:solidFill>
                  <a:srgbClr val="00B4D8"/>
                </a:solidFill>
              </a:rPr>
              <a:t>No Rack-Level Inventory Control</a:t>
            </a:r>
          </a:p>
          <a:p>
            <a:pPr algn="l">
              <a:spcBef>
                <a:spcPts val="0"/>
              </a:spcBef>
            </a:pPr>
            <a:r>
              <a:rPr sz="1200" b="0" i="0">
                <a:solidFill>
                  <a:srgbClr val="CCD6E0"/>
                </a:solidFill>
              </a:rPr>
              <a:t>Warehouse managers lack rack-by-rack
occupancy data</a:t>
            </a:r>
          </a:p>
          <a:p>
            <a:pPr algn="l">
              <a:spcBef>
                <a:spcPts val="0"/>
              </a:spcBef>
            </a:pPr>
            <a:r>
              <a:rPr sz="1200" b="0" i="0">
                <a:solidFill>
                  <a:srgbClr val="CCD6E0"/>
                </a:solidFill>
              </a:rPr>
              <a:t>Over-stuffed racks cause product damage
and safety hazards</a:t>
            </a:r>
          </a:p>
        </p:txBody>
      </p:sp>
      <p:sp>
        <p:nvSpPr>
          <p:cNvPr id="15" name="Rectangle 14"/>
          <p:cNvSpPr/>
          <p:nvPr/>
        </p:nvSpPr>
        <p:spPr>
          <a:xfrm>
            <a:off x="4251960" y="3794760"/>
            <a:ext cx="3749039" cy="2423160"/>
          </a:xfrm>
          <a:prstGeom prst="rect">
            <a:avLst/>
          </a:prstGeom>
          <a:solidFill>
            <a:srgbClr val="14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389120" y="3886200"/>
            <a:ext cx="3474720" cy="2240279"/>
          </a:xfrm>
          <a:prstGeom prst="rect">
            <a:avLst/>
          </a:prstGeom>
          <a:noFill/>
        </p:spPr>
        <p:txBody>
          <a:bodyPr wrap="square">
            <a:spAutoFit/>
          </a:bodyPr>
          <a:lstStyle/>
          <a:p>
            <a:pPr algn="l"/>
            <a:r>
              <a:rPr sz="1500" b="1">
                <a:solidFill>
                  <a:srgbClr val="00B4D8"/>
                </a:solidFill>
              </a:rPr>
              <a:t>Safety &amp; Incident Gaps</a:t>
            </a:r>
          </a:p>
          <a:p>
            <a:pPr algn="l">
              <a:spcBef>
                <a:spcPts val="0"/>
              </a:spcBef>
            </a:pPr>
            <a:r>
              <a:rPr sz="1200" b="0" i="0">
                <a:solidFill>
                  <a:srgbClr val="CCD6E0"/>
                </a:solidFill>
              </a:rPr>
              <a:t>Accidents go unreported or are tracked
outside the warehouse system</a:t>
            </a:r>
          </a:p>
          <a:p>
            <a:pPr algn="l">
              <a:spcBef>
                <a:spcPts val="0"/>
              </a:spcBef>
            </a:pPr>
            <a:r>
              <a:rPr sz="1200" b="0" i="0">
                <a:solidFill>
                  <a:srgbClr val="CCD6E0"/>
                </a:solidFill>
              </a:rPr>
              <a:t>No integrated resolution workflow
for incident reports</a:t>
            </a:r>
          </a:p>
        </p:txBody>
      </p:sp>
      <p:sp>
        <p:nvSpPr>
          <p:cNvPr id="17" name="Rectangle 16"/>
          <p:cNvSpPr/>
          <p:nvPr/>
        </p:nvSpPr>
        <p:spPr>
          <a:xfrm>
            <a:off x="8229600" y="3794760"/>
            <a:ext cx="3749039" cy="2423160"/>
          </a:xfrm>
          <a:prstGeom prst="rect">
            <a:avLst/>
          </a:prstGeom>
          <a:solidFill>
            <a:srgbClr val="14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366760" y="3886200"/>
            <a:ext cx="3474720" cy="2240279"/>
          </a:xfrm>
          <a:prstGeom prst="rect">
            <a:avLst/>
          </a:prstGeom>
          <a:noFill/>
        </p:spPr>
        <p:txBody>
          <a:bodyPr wrap="square">
            <a:spAutoFit/>
          </a:bodyPr>
          <a:lstStyle/>
          <a:p>
            <a:pPr algn="l"/>
            <a:r>
              <a:rPr sz="1500" b="1">
                <a:solidFill>
                  <a:srgbClr val="00B4D8"/>
                </a:solidFill>
              </a:rPr>
              <a:t>Zero Analytics &amp; KPI Visibility</a:t>
            </a:r>
          </a:p>
          <a:p>
            <a:pPr algn="l">
              <a:spcBef>
                <a:spcPts val="0"/>
              </a:spcBef>
            </a:pPr>
            <a:r>
              <a:rPr sz="1200" b="0" i="0">
                <a:solidFill>
                  <a:srgbClr val="CCD6E0"/>
                </a:solidFill>
              </a:rPr>
              <a:t>Throughput, dwell time, and worker
productivity are unmeasured</a:t>
            </a:r>
          </a:p>
          <a:p>
            <a:pPr algn="l">
              <a:spcBef>
                <a:spcPts val="0"/>
              </a:spcBef>
            </a:pPr>
            <a:r>
              <a:rPr sz="1200" b="0" i="0">
                <a:solidFill>
                  <a:srgbClr val="CCD6E0"/>
                </a:solidFill>
              </a:rPr>
              <a:t>Management decisions rely on instinct
rather than data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51560"/>
          </a:xfrm>
          <a:prstGeom prst="rect">
            <a:avLst/>
          </a:prstGeom>
          <a:solidFill>
            <a:srgbClr val="1626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24128"/>
            <a:ext cx="12188952" cy="457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73152"/>
            <a:ext cx="11430000" cy="640080"/>
          </a:xfrm>
          <a:prstGeom prst="rect">
            <a:avLst/>
          </a:prstGeom>
          <a:noFill/>
        </p:spPr>
        <p:txBody>
          <a:bodyPr wrap="square">
            <a:spAutoFit/>
          </a:bodyPr>
          <a:lstStyle/>
          <a:p>
            <a:pPr algn="l"/>
            <a:r>
              <a:rPr sz="2800" b="1" i="0">
                <a:solidFill>
                  <a:srgbClr val="00B4D8"/>
                </a:solidFill>
              </a:rPr>
              <a:t>Project Proposal</a:t>
            </a:r>
          </a:p>
        </p:txBody>
      </p:sp>
      <p:sp>
        <p:nvSpPr>
          <p:cNvPr id="6" name="TextBox 5"/>
          <p:cNvSpPr txBox="1"/>
          <p:nvPr/>
        </p:nvSpPr>
        <p:spPr>
          <a:xfrm>
            <a:off x="365760" y="658368"/>
            <a:ext cx="11430000" cy="347472"/>
          </a:xfrm>
          <a:prstGeom prst="rect">
            <a:avLst/>
          </a:prstGeom>
          <a:noFill/>
        </p:spPr>
        <p:txBody>
          <a:bodyPr wrap="square">
            <a:spAutoFit/>
          </a:bodyPr>
          <a:lstStyle/>
          <a:p>
            <a:pPr algn="l"/>
            <a:r>
              <a:rPr sz="1300" b="0" i="1">
                <a:solidFill>
                  <a:srgbClr val="A8D8EA"/>
                </a:solidFill>
              </a:rPr>
              <a:t>Proposed Solution — Smart Warehouse Management System</a:t>
            </a:r>
          </a:p>
        </p:txBody>
      </p:sp>
      <p:sp>
        <p:nvSpPr>
          <p:cNvPr id="7" name="TextBox 6"/>
          <p:cNvSpPr txBox="1"/>
          <p:nvPr/>
        </p:nvSpPr>
        <p:spPr>
          <a:xfrm>
            <a:off x="365760" y="1143000"/>
            <a:ext cx="11430000" cy="411480"/>
          </a:xfrm>
          <a:prstGeom prst="rect">
            <a:avLst/>
          </a:prstGeom>
          <a:noFill/>
        </p:spPr>
        <p:txBody>
          <a:bodyPr wrap="square">
            <a:spAutoFit/>
          </a:bodyPr>
          <a:lstStyle/>
          <a:p>
            <a:pPr algn="l"/>
            <a:r>
              <a:rPr sz="1300" b="0" i="0">
                <a:solidFill>
                  <a:srgbClr val="CCD6E0"/>
                </a:solidFill>
              </a:rPr>
              <a:t>We propose a tri-service, cloud-deployable warehouse platform built on three tightly coupled services:</a:t>
            </a:r>
          </a:p>
        </p:txBody>
      </p:sp>
      <p:sp>
        <p:nvSpPr>
          <p:cNvPr id="8" name="Rectangle 7"/>
          <p:cNvSpPr/>
          <p:nvPr/>
        </p:nvSpPr>
        <p:spPr>
          <a:xfrm>
            <a:off x="274320" y="1691640"/>
            <a:ext cx="3749039" cy="3200400"/>
          </a:xfrm>
          <a:prstGeom prst="rect">
            <a:avLst/>
          </a:prstGeom>
          <a:solidFill>
            <a:srgbClr val="14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74320" y="1691640"/>
            <a:ext cx="3749039" cy="54864"/>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5760" y="1691640"/>
            <a:ext cx="3566160" cy="594360"/>
          </a:xfrm>
          <a:prstGeom prst="rect">
            <a:avLst/>
          </a:prstGeom>
          <a:noFill/>
        </p:spPr>
        <p:txBody>
          <a:bodyPr wrap="square">
            <a:spAutoFit/>
          </a:bodyPr>
          <a:lstStyle/>
          <a:p>
            <a:pPr algn="ctr"/>
            <a:r>
              <a:rPr sz="1600" b="1" i="0">
                <a:solidFill>
                  <a:srgbClr val="00B4D8"/>
                </a:solidFill>
              </a:rPr>
              <a:t>Ruby / Sinatra
REST API</a:t>
            </a:r>
          </a:p>
        </p:txBody>
      </p:sp>
      <p:sp>
        <p:nvSpPr>
          <p:cNvPr id="11" name="TextBox 10"/>
          <p:cNvSpPr txBox="1"/>
          <p:nvPr/>
        </p:nvSpPr>
        <p:spPr>
          <a:xfrm>
            <a:off x="411479" y="2331720"/>
            <a:ext cx="3474720" cy="2468880"/>
          </a:xfrm>
          <a:prstGeom prst="rect">
            <a:avLst/>
          </a:prstGeom>
          <a:noFill/>
        </p:spPr>
        <p:txBody>
          <a:bodyPr wrap="square">
            <a:spAutoFit/>
          </a:bodyPr>
          <a:lstStyle/>
          <a:p>
            <a:endParaRPr/>
          </a:p>
          <a:p>
            <a:pPr algn="l">
              <a:spcBef>
                <a:spcPts val="0"/>
              </a:spcBef>
            </a:pPr>
            <a:r>
              <a:rPr sz="1200" b="0" i="0">
                <a:solidFill>
                  <a:srgbClr val="CCD6E0"/>
                </a:solidFill>
              </a:rPr>
              <a:t>▸  JWT-secured endpoints</a:t>
            </a:r>
          </a:p>
          <a:p>
            <a:pPr algn="l">
              <a:spcBef>
                <a:spcPts val="0"/>
              </a:spcBef>
            </a:pPr>
            <a:r>
              <a:rPr sz="1200" b="0" i="0">
                <a:solidFill>
                  <a:srgbClr val="CCD6E0"/>
                </a:solidFill>
              </a:rPr>
              <a:t>▸  Role-based access (Manager,
Leadman, Worker)</a:t>
            </a:r>
          </a:p>
          <a:p>
            <a:pPr algn="l">
              <a:spcBef>
                <a:spcPts val="0"/>
              </a:spcBef>
            </a:pPr>
            <a:r>
              <a:rPr sz="1200" b="0" i="0">
                <a:solidFill>
                  <a:srgbClr val="CCD6E0"/>
                </a:solidFill>
              </a:rPr>
              <a:t>▸  PostgreSQL ORM-free queries</a:t>
            </a:r>
          </a:p>
          <a:p>
            <a:pPr algn="l">
              <a:spcBef>
                <a:spcPts val="0"/>
              </a:spcBef>
            </a:pPr>
            <a:r>
              <a:rPr sz="1200" b="0" i="0">
                <a:solidFill>
                  <a:srgbClr val="CCD6E0"/>
                </a:solidFill>
              </a:rPr>
              <a:t>▸  SSE broadcast engine</a:t>
            </a:r>
          </a:p>
          <a:p>
            <a:pPr algn="l">
              <a:spcBef>
                <a:spcPts val="0"/>
              </a:spcBef>
            </a:pPr>
            <a:r>
              <a:rPr sz="1200" b="0" i="0">
                <a:solidFill>
                  <a:srgbClr val="CCD6E0"/>
                </a:solidFill>
              </a:rPr>
              <a:t>▸  Business logic services</a:t>
            </a:r>
          </a:p>
        </p:txBody>
      </p:sp>
      <p:sp>
        <p:nvSpPr>
          <p:cNvPr id="12" name="Rectangle 11"/>
          <p:cNvSpPr/>
          <p:nvPr/>
        </p:nvSpPr>
        <p:spPr>
          <a:xfrm>
            <a:off x="4251959" y="1691640"/>
            <a:ext cx="3749039" cy="3200400"/>
          </a:xfrm>
          <a:prstGeom prst="rect">
            <a:avLst/>
          </a:prstGeom>
          <a:solidFill>
            <a:srgbClr val="14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251959" y="1691640"/>
            <a:ext cx="3749039" cy="54864"/>
          </a:xfrm>
          <a:prstGeom prst="rect">
            <a:avLst/>
          </a:prstGeom>
          <a:solidFill>
            <a:srgbClr val="FFD1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343399" y="1691640"/>
            <a:ext cx="3566160" cy="594360"/>
          </a:xfrm>
          <a:prstGeom prst="rect">
            <a:avLst/>
          </a:prstGeom>
          <a:noFill/>
        </p:spPr>
        <p:txBody>
          <a:bodyPr wrap="square">
            <a:spAutoFit/>
          </a:bodyPr>
          <a:lstStyle/>
          <a:p>
            <a:pPr algn="ctr"/>
            <a:r>
              <a:rPr sz="1600" b="1" i="0">
                <a:solidFill>
                  <a:srgbClr val="FFD166"/>
                </a:solidFill>
              </a:rPr>
              <a:t>React 19
SPA Frontend</a:t>
            </a:r>
          </a:p>
        </p:txBody>
      </p:sp>
      <p:sp>
        <p:nvSpPr>
          <p:cNvPr id="15" name="TextBox 14"/>
          <p:cNvSpPr txBox="1"/>
          <p:nvPr/>
        </p:nvSpPr>
        <p:spPr>
          <a:xfrm>
            <a:off x="4389120" y="2331720"/>
            <a:ext cx="3474720" cy="2468880"/>
          </a:xfrm>
          <a:prstGeom prst="rect">
            <a:avLst/>
          </a:prstGeom>
          <a:noFill/>
        </p:spPr>
        <p:txBody>
          <a:bodyPr wrap="square">
            <a:spAutoFit/>
          </a:bodyPr>
          <a:lstStyle/>
          <a:p>
            <a:endParaRPr/>
          </a:p>
          <a:p>
            <a:pPr algn="l">
              <a:spcBef>
                <a:spcPts val="0"/>
              </a:spcBef>
            </a:pPr>
            <a:r>
              <a:rPr sz="1200" b="0" i="0">
                <a:solidFill>
                  <a:srgbClr val="CCD6E0"/>
                </a:solidFill>
              </a:rPr>
              <a:t>▸  Manager &amp; Worker dashboards</a:t>
            </a:r>
          </a:p>
          <a:p>
            <a:pPr algn="l">
              <a:spcBef>
                <a:spcPts val="0"/>
              </a:spcBef>
            </a:pPr>
            <a:r>
              <a:rPr sz="1200" b="0" i="0">
                <a:solidFill>
                  <a:srgbClr val="CCD6E0"/>
                </a:solidFill>
              </a:rPr>
              <a:t>▸  QR Code scanner (inbound
&amp; delivery confirmation)</a:t>
            </a:r>
          </a:p>
          <a:p>
            <a:pPr algn="l">
              <a:spcBef>
                <a:spcPts val="0"/>
              </a:spcBef>
            </a:pPr>
            <a:r>
              <a:rPr sz="1200" b="0" i="0">
                <a:solidFill>
                  <a:srgbClr val="CCD6E0"/>
                </a:solidFill>
              </a:rPr>
              <a:t>▸  Real-time task updates via SSE</a:t>
            </a:r>
          </a:p>
          <a:p>
            <a:pPr algn="l">
              <a:spcBef>
                <a:spcPts val="0"/>
              </a:spcBef>
            </a:pPr>
            <a:r>
              <a:rPr sz="1200" b="0" i="0">
                <a:solidFill>
                  <a:srgbClr val="CCD6E0"/>
                </a:solidFill>
              </a:rPr>
              <a:t>▸  KPI charts &amp; analytics</a:t>
            </a:r>
          </a:p>
          <a:p>
            <a:pPr algn="l">
              <a:spcBef>
                <a:spcPts val="0"/>
              </a:spcBef>
            </a:pPr>
            <a:r>
              <a:rPr sz="1200" b="0" i="0">
                <a:solidFill>
                  <a:srgbClr val="CCD6E0"/>
                </a:solidFill>
              </a:rPr>
              <a:t>▸  Warehouse grid visualiser</a:t>
            </a:r>
          </a:p>
        </p:txBody>
      </p:sp>
      <p:sp>
        <p:nvSpPr>
          <p:cNvPr id="16" name="Rectangle 15"/>
          <p:cNvSpPr/>
          <p:nvPr/>
        </p:nvSpPr>
        <p:spPr>
          <a:xfrm>
            <a:off x="8229600" y="1691640"/>
            <a:ext cx="3749039" cy="3200400"/>
          </a:xfrm>
          <a:prstGeom prst="rect">
            <a:avLst/>
          </a:prstGeom>
          <a:solidFill>
            <a:srgbClr val="14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229600" y="1691640"/>
            <a:ext cx="3749039" cy="54864"/>
          </a:xfrm>
          <a:prstGeom prst="rect">
            <a:avLst/>
          </a:prstGeom>
          <a:solidFill>
            <a:srgbClr val="06D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321040" y="1691640"/>
            <a:ext cx="3566160" cy="594360"/>
          </a:xfrm>
          <a:prstGeom prst="rect">
            <a:avLst/>
          </a:prstGeom>
          <a:noFill/>
        </p:spPr>
        <p:txBody>
          <a:bodyPr wrap="square">
            <a:spAutoFit/>
          </a:bodyPr>
          <a:lstStyle/>
          <a:p>
            <a:pPr algn="ctr"/>
            <a:r>
              <a:rPr sz="1600" b="1" i="0">
                <a:solidFill>
                  <a:srgbClr val="06D6A0"/>
                </a:solidFill>
              </a:rPr>
              <a:t>Python / FastAPI
Optimiser</a:t>
            </a:r>
          </a:p>
        </p:txBody>
      </p:sp>
      <p:sp>
        <p:nvSpPr>
          <p:cNvPr id="19" name="TextBox 18"/>
          <p:cNvSpPr txBox="1"/>
          <p:nvPr/>
        </p:nvSpPr>
        <p:spPr>
          <a:xfrm>
            <a:off x="8366760" y="2331720"/>
            <a:ext cx="3474720" cy="2468880"/>
          </a:xfrm>
          <a:prstGeom prst="rect">
            <a:avLst/>
          </a:prstGeom>
          <a:noFill/>
        </p:spPr>
        <p:txBody>
          <a:bodyPr wrap="square">
            <a:spAutoFit/>
          </a:bodyPr>
          <a:lstStyle/>
          <a:p>
            <a:endParaRPr/>
          </a:p>
          <a:p>
            <a:pPr algn="l">
              <a:spcBef>
                <a:spcPts val="0"/>
              </a:spcBef>
            </a:pPr>
            <a:r>
              <a:rPr sz="1200" b="0" i="0">
                <a:solidFill>
                  <a:srgbClr val="CCD6E0"/>
                </a:solidFill>
              </a:rPr>
              <a:t>▸  Multi-factor scoring algorithm</a:t>
            </a:r>
          </a:p>
          <a:p>
            <a:pPr algn="l">
              <a:spcBef>
                <a:spcPts val="0"/>
              </a:spcBef>
            </a:pPr>
            <a:r>
              <a:rPr sz="1200" b="0" i="0">
                <a:solidFill>
                  <a:srgbClr val="CCD6E0"/>
                </a:solidFill>
              </a:rPr>
              <a:t>▸  Priority + Deadline + Distance
+ Congestion + Aging</a:t>
            </a:r>
          </a:p>
          <a:p>
            <a:pPr algn="l">
              <a:spcBef>
                <a:spcPts val="0"/>
              </a:spcBef>
            </a:pPr>
            <a:r>
              <a:rPr sz="1200" b="0" i="0">
                <a:solidFill>
                  <a:srgbClr val="CCD6E0"/>
                </a:solidFill>
              </a:rPr>
              <a:t>▸  Optimal pallet sequence</a:t>
            </a:r>
          </a:p>
          <a:p>
            <a:pPr algn="l">
              <a:spcBef>
                <a:spcPts val="0"/>
              </a:spcBef>
            </a:pPr>
            <a:r>
              <a:rPr sz="1200" b="0" i="0">
                <a:solidFill>
                  <a:srgbClr val="CCD6E0"/>
                </a:solidFill>
              </a:rPr>
              <a:t>▸  /optimize/explain endpoint</a:t>
            </a:r>
          </a:p>
          <a:p>
            <a:pPr algn="l">
              <a:spcBef>
                <a:spcPts val="0"/>
              </a:spcBef>
            </a:pPr>
            <a:r>
              <a:rPr sz="1200" b="0" i="0">
                <a:solidFill>
                  <a:srgbClr val="CCD6E0"/>
                </a:solidFill>
              </a:rPr>
              <a:t>▸  Anti-starvation aging bonus</a:t>
            </a:r>
          </a:p>
        </p:txBody>
      </p:sp>
      <p:sp>
        <p:nvSpPr>
          <p:cNvPr id="20" name="TextBox 19"/>
          <p:cNvSpPr txBox="1"/>
          <p:nvPr/>
        </p:nvSpPr>
        <p:spPr>
          <a:xfrm>
            <a:off x="3977639" y="3017520"/>
            <a:ext cx="457200" cy="457200"/>
          </a:xfrm>
          <a:prstGeom prst="rect">
            <a:avLst/>
          </a:prstGeom>
          <a:noFill/>
        </p:spPr>
        <p:txBody>
          <a:bodyPr wrap="square">
            <a:spAutoFit/>
          </a:bodyPr>
          <a:lstStyle/>
          <a:p>
            <a:pPr algn="ctr"/>
            <a:r>
              <a:rPr sz="2200" b="1" i="0">
                <a:solidFill>
                  <a:srgbClr val="00B4D8"/>
                </a:solidFill>
              </a:rPr>
              <a:t>⟺</a:t>
            </a:r>
          </a:p>
        </p:txBody>
      </p:sp>
      <p:sp>
        <p:nvSpPr>
          <p:cNvPr id="21" name="TextBox 20"/>
          <p:cNvSpPr txBox="1"/>
          <p:nvPr/>
        </p:nvSpPr>
        <p:spPr>
          <a:xfrm>
            <a:off x="7955279" y="3017520"/>
            <a:ext cx="457200" cy="457200"/>
          </a:xfrm>
          <a:prstGeom prst="rect">
            <a:avLst/>
          </a:prstGeom>
          <a:noFill/>
        </p:spPr>
        <p:txBody>
          <a:bodyPr wrap="square">
            <a:spAutoFit/>
          </a:bodyPr>
          <a:lstStyle/>
          <a:p>
            <a:pPr algn="ctr"/>
            <a:r>
              <a:rPr sz="2200" b="1" i="0">
                <a:solidFill>
                  <a:srgbClr val="00B4D8"/>
                </a:solidFill>
              </a:rPr>
              <a:t>⟺</a:t>
            </a:r>
          </a:p>
        </p:txBody>
      </p:sp>
      <p:sp>
        <p:nvSpPr>
          <p:cNvPr id="22" name="Rectangle 21"/>
          <p:cNvSpPr/>
          <p:nvPr/>
        </p:nvSpPr>
        <p:spPr>
          <a:xfrm>
            <a:off x="274320" y="5074920"/>
            <a:ext cx="11640312" cy="1508760"/>
          </a:xfrm>
          <a:prstGeom prst="rect">
            <a:avLst/>
          </a:prstGeom>
          <a:solidFill>
            <a:srgbClr val="0A14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57200" y="5120640"/>
            <a:ext cx="3657600" cy="365760"/>
          </a:xfrm>
          <a:prstGeom prst="rect">
            <a:avLst/>
          </a:prstGeom>
          <a:noFill/>
        </p:spPr>
        <p:txBody>
          <a:bodyPr wrap="square">
            <a:spAutoFit/>
          </a:bodyPr>
          <a:lstStyle/>
          <a:p>
            <a:pPr algn="l"/>
            <a:r>
              <a:rPr sz="1400" b="1" i="0">
                <a:solidFill>
                  <a:srgbClr val="00B4D8"/>
                </a:solidFill>
              </a:rPr>
              <a:t>Key Objectives</a:t>
            </a:r>
          </a:p>
        </p:txBody>
      </p:sp>
      <p:sp>
        <p:nvSpPr>
          <p:cNvPr id="24" name="TextBox 23"/>
          <p:cNvSpPr txBox="1"/>
          <p:nvPr/>
        </p:nvSpPr>
        <p:spPr>
          <a:xfrm>
            <a:off x="457200" y="5532120"/>
            <a:ext cx="3840480" cy="411480"/>
          </a:xfrm>
          <a:prstGeom prst="rect">
            <a:avLst/>
          </a:prstGeom>
          <a:noFill/>
        </p:spPr>
        <p:txBody>
          <a:bodyPr wrap="square">
            <a:spAutoFit/>
          </a:bodyPr>
          <a:lstStyle/>
          <a:p>
            <a:pPr algn="l"/>
            <a:r>
              <a:rPr sz="1100" b="0" i="0">
                <a:solidFill>
                  <a:srgbClr val="CCD6E0"/>
                </a:solidFill>
              </a:rPr>
              <a:t>✔  Real-time pallet tracking via QR codes</a:t>
            </a:r>
          </a:p>
        </p:txBody>
      </p:sp>
      <p:sp>
        <p:nvSpPr>
          <p:cNvPr id="25" name="TextBox 24"/>
          <p:cNvSpPr txBox="1"/>
          <p:nvPr/>
        </p:nvSpPr>
        <p:spPr>
          <a:xfrm>
            <a:off x="4434840" y="5532120"/>
            <a:ext cx="3840480" cy="411480"/>
          </a:xfrm>
          <a:prstGeom prst="rect">
            <a:avLst/>
          </a:prstGeom>
          <a:noFill/>
        </p:spPr>
        <p:txBody>
          <a:bodyPr wrap="square">
            <a:spAutoFit/>
          </a:bodyPr>
          <a:lstStyle/>
          <a:p>
            <a:pPr algn="l"/>
            <a:r>
              <a:rPr sz="1100" b="0" i="0">
                <a:solidFill>
                  <a:srgbClr val="CCD6E0"/>
                </a:solidFill>
              </a:rPr>
              <a:t>✔  Intelligent cross-dock &amp; storage task sequencing</a:t>
            </a:r>
          </a:p>
        </p:txBody>
      </p:sp>
      <p:sp>
        <p:nvSpPr>
          <p:cNvPr id="26" name="TextBox 25"/>
          <p:cNvSpPr txBox="1"/>
          <p:nvPr/>
        </p:nvSpPr>
        <p:spPr>
          <a:xfrm>
            <a:off x="8412480" y="5532120"/>
            <a:ext cx="3840480" cy="411480"/>
          </a:xfrm>
          <a:prstGeom prst="rect">
            <a:avLst/>
          </a:prstGeom>
          <a:noFill/>
        </p:spPr>
        <p:txBody>
          <a:bodyPr wrap="square">
            <a:spAutoFit/>
          </a:bodyPr>
          <a:lstStyle/>
          <a:p>
            <a:pPr algn="l"/>
            <a:r>
              <a:rPr sz="1100" b="0" i="0">
                <a:solidFill>
                  <a:srgbClr val="CCD6E0"/>
                </a:solidFill>
              </a:rPr>
              <a:t>✔  Dock congestion detection &amp; alerting</a:t>
            </a:r>
          </a:p>
        </p:txBody>
      </p:sp>
      <p:sp>
        <p:nvSpPr>
          <p:cNvPr id="27" name="TextBox 26"/>
          <p:cNvSpPr txBox="1"/>
          <p:nvPr/>
        </p:nvSpPr>
        <p:spPr>
          <a:xfrm>
            <a:off x="457200" y="5989320"/>
            <a:ext cx="3840480" cy="411480"/>
          </a:xfrm>
          <a:prstGeom prst="rect">
            <a:avLst/>
          </a:prstGeom>
          <a:noFill/>
        </p:spPr>
        <p:txBody>
          <a:bodyPr wrap="square">
            <a:spAutoFit/>
          </a:bodyPr>
          <a:lstStyle/>
          <a:p>
            <a:pPr algn="l"/>
            <a:r>
              <a:rPr sz="1100" b="0" i="0">
                <a:solidFill>
                  <a:srgbClr val="CCD6E0"/>
                </a:solidFill>
              </a:rPr>
              <a:t>✔  Full KPI dashboard for throughput &amp; productivity</a:t>
            </a:r>
          </a:p>
        </p:txBody>
      </p:sp>
      <p:sp>
        <p:nvSpPr>
          <p:cNvPr id="28" name="TextBox 27"/>
          <p:cNvSpPr txBox="1"/>
          <p:nvPr/>
        </p:nvSpPr>
        <p:spPr>
          <a:xfrm>
            <a:off x="4434840" y="5989320"/>
            <a:ext cx="3840480" cy="411480"/>
          </a:xfrm>
          <a:prstGeom prst="rect">
            <a:avLst/>
          </a:prstGeom>
          <a:noFill/>
        </p:spPr>
        <p:txBody>
          <a:bodyPr wrap="square">
            <a:spAutoFit/>
          </a:bodyPr>
          <a:lstStyle/>
          <a:p>
            <a:pPr algn="l"/>
            <a:r>
              <a:rPr sz="1100" b="0" i="0">
                <a:solidFill>
                  <a:srgbClr val="CCD6E0"/>
                </a:solidFill>
              </a:rPr>
              <a:t>✔  Integrated safety incident reporting &amp; resolution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51560"/>
          </a:xfrm>
          <a:prstGeom prst="rect">
            <a:avLst/>
          </a:prstGeom>
          <a:solidFill>
            <a:srgbClr val="1626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24128"/>
            <a:ext cx="12188952" cy="457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73152"/>
            <a:ext cx="11430000" cy="640080"/>
          </a:xfrm>
          <a:prstGeom prst="rect">
            <a:avLst/>
          </a:prstGeom>
          <a:noFill/>
        </p:spPr>
        <p:txBody>
          <a:bodyPr wrap="square">
            <a:spAutoFit/>
          </a:bodyPr>
          <a:lstStyle/>
          <a:p>
            <a:pPr algn="l"/>
            <a:r>
              <a:rPr sz="2800" b="1" i="0">
                <a:solidFill>
                  <a:srgbClr val="00B4D8"/>
                </a:solidFill>
              </a:rPr>
              <a:t>Literature Survey</a:t>
            </a:r>
          </a:p>
        </p:txBody>
      </p:sp>
      <p:sp>
        <p:nvSpPr>
          <p:cNvPr id="6" name="TextBox 5"/>
          <p:cNvSpPr txBox="1"/>
          <p:nvPr/>
        </p:nvSpPr>
        <p:spPr>
          <a:xfrm>
            <a:off x="365760" y="658368"/>
            <a:ext cx="11430000" cy="347472"/>
          </a:xfrm>
          <a:prstGeom prst="rect">
            <a:avLst/>
          </a:prstGeom>
          <a:noFill/>
        </p:spPr>
        <p:txBody>
          <a:bodyPr wrap="square">
            <a:spAutoFit/>
          </a:bodyPr>
          <a:lstStyle/>
          <a:p>
            <a:pPr algn="l"/>
            <a:r>
              <a:rPr sz="1300" b="0" i="1">
                <a:solidFill>
                  <a:srgbClr val="A8D8EA"/>
                </a:solidFill>
              </a:rPr>
              <a:t>Review of Existing Work in Warehouse Management &amp; Optimisation</a:t>
            </a:r>
          </a:p>
        </p:txBody>
      </p:sp>
      <p:sp>
        <p:nvSpPr>
          <p:cNvPr id="7" name="Rectangle 6"/>
          <p:cNvSpPr/>
          <p:nvPr/>
        </p:nvSpPr>
        <p:spPr>
          <a:xfrm>
            <a:off x="274320" y="1188720"/>
            <a:ext cx="11640312" cy="804672"/>
          </a:xfrm>
          <a:prstGeom prst="rect">
            <a:avLst/>
          </a:prstGeom>
          <a:solidFill>
            <a:srgbClr val="1220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74320" y="1188720"/>
            <a:ext cx="54864" cy="80467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 y="1225296"/>
            <a:ext cx="2743200" cy="320040"/>
          </a:xfrm>
          <a:prstGeom prst="rect">
            <a:avLst/>
          </a:prstGeom>
          <a:noFill/>
        </p:spPr>
        <p:txBody>
          <a:bodyPr wrap="square">
            <a:spAutoFit/>
          </a:bodyPr>
          <a:lstStyle/>
          <a:p>
            <a:pPr algn="l"/>
            <a:r>
              <a:rPr sz="1200" b="1" i="0">
                <a:solidFill>
                  <a:srgbClr val="00B4D8"/>
                </a:solidFill>
              </a:rPr>
              <a:t>[1] Roodbergen &amp; Vis (2006)</a:t>
            </a:r>
          </a:p>
        </p:txBody>
      </p:sp>
      <p:sp>
        <p:nvSpPr>
          <p:cNvPr id="10" name="TextBox 9"/>
          <p:cNvSpPr txBox="1"/>
          <p:nvPr/>
        </p:nvSpPr>
        <p:spPr>
          <a:xfrm>
            <a:off x="3291840" y="1225296"/>
            <a:ext cx="8503920" cy="685800"/>
          </a:xfrm>
          <a:prstGeom prst="rect">
            <a:avLst/>
          </a:prstGeom>
          <a:noFill/>
        </p:spPr>
        <p:txBody>
          <a:bodyPr wrap="square">
            <a:spAutoFit/>
          </a:bodyPr>
          <a:lstStyle/>
          <a:p>
            <a:pPr algn="l"/>
            <a:r>
              <a:rPr sz="1100" b="0" i="0">
                <a:solidFill>
                  <a:srgbClr val="CCD6E0"/>
                </a:solidFill>
              </a:rPr>
              <a:t>A Survey of Literature on Automated Storage &amp; Retrieval Systems — Established foundational routing heuristics for AS/RS; our rack-assignment service adapts nearest-available-slot with capacity guards.</a:t>
            </a:r>
          </a:p>
        </p:txBody>
      </p:sp>
      <p:sp>
        <p:nvSpPr>
          <p:cNvPr id="11" name="Rectangle 10"/>
          <p:cNvSpPr/>
          <p:nvPr/>
        </p:nvSpPr>
        <p:spPr>
          <a:xfrm>
            <a:off x="274320" y="2103120"/>
            <a:ext cx="11640312" cy="804672"/>
          </a:xfrm>
          <a:prstGeom prst="rect">
            <a:avLst/>
          </a:prstGeom>
          <a:solidFill>
            <a:srgbClr val="1220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274320" y="2103120"/>
            <a:ext cx="54864" cy="804672"/>
          </a:xfrm>
          <a:prstGeom prst="rect">
            <a:avLst/>
          </a:prstGeom>
          <a:solidFill>
            <a:srgbClr val="FFD1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7200" y="2139696"/>
            <a:ext cx="2743200" cy="320040"/>
          </a:xfrm>
          <a:prstGeom prst="rect">
            <a:avLst/>
          </a:prstGeom>
          <a:noFill/>
        </p:spPr>
        <p:txBody>
          <a:bodyPr wrap="square">
            <a:spAutoFit/>
          </a:bodyPr>
          <a:lstStyle/>
          <a:p>
            <a:pPr algn="l"/>
            <a:r>
              <a:rPr sz="1200" b="1" i="0">
                <a:solidFill>
                  <a:srgbClr val="FFD166"/>
                </a:solidFill>
              </a:rPr>
              <a:t>[2] Bartholdi &amp; Hackman (2019)</a:t>
            </a:r>
          </a:p>
        </p:txBody>
      </p:sp>
      <p:sp>
        <p:nvSpPr>
          <p:cNvPr id="14" name="TextBox 13"/>
          <p:cNvSpPr txBox="1"/>
          <p:nvPr/>
        </p:nvSpPr>
        <p:spPr>
          <a:xfrm>
            <a:off x="3291840" y="2139696"/>
            <a:ext cx="8503920" cy="685800"/>
          </a:xfrm>
          <a:prstGeom prst="rect">
            <a:avLst/>
          </a:prstGeom>
          <a:noFill/>
        </p:spPr>
        <p:txBody>
          <a:bodyPr wrap="square">
            <a:spAutoFit/>
          </a:bodyPr>
          <a:lstStyle/>
          <a:p>
            <a:pPr algn="l"/>
            <a:r>
              <a:rPr sz="1100" b="0" i="0">
                <a:solidFill>
                  <a:srgbClr val="CCD6E0"/>
                </a:solidFill>
              </a:rPr>
              <a:t>Warehouse &amp; Distribution Science — Provides ergonomic zoning theory and travel-distance minimisation; directly informs our coordinate-based distance penalty in the optimiser.</a:t>
            </a:r>
          </a:p>
        </p:txBody>
      </p:sp>
      <p:sp>
        <p:nvSpPr>
          <p:cNvPr id="15" name="Rectangle 14"/>
          <p:cNvSpPr/>
          <p:nvPr/>
        </p:nvSpPr>
        <p:spPr>
          <a:xfrm>
            <a:off x="274320" y="3017520"/>
            <a:ext cx="11640312" cy="804672"/>
          </a:xfrm>
          <a:prstGeom prst="rect">
            <a:avLst/>
          </a:prstGeom>
          <a:solidFill>
            <a:srgbClr val="1220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274320" y="3017520"/>
            <a:ext cx="54864" cy="804672"/>
          </a:xfrm>
          <a:prstGeom prst="rect">
            <a:avLst/>
          </a:prstGeom>
          <a:solidFill>
            <a:srgbClr val="06D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57200" y="3054096"/>
            <a:ext cx="2743200" cy="320040"/>
          </a:xfrm>
          <a:prstGeom prst="rect">
            <a:avLst/>
          </a:prstGeom>
          <a:noFill/>
        </p:spPr>
        <p:txBody>
          <a:bodyPr wrap="square">
            <a:spAutoFit/>
          </a:bodyPr>
          <a:lstStyle/>
          <a:p>
            <a:pPr algn="l"/>
            <a:r>
              <a:rPr sz="1200" b="1" i="0">
                <a:solidFill>
                  <a:srgbClr val="06D6A0"/>
                </a:solidFill>
              </a:rPr>
              <a:t>[3] De Koster et al. (2007)</a:t>
            </a:r>
          </a:p>
        </p:txBody>
      </p:sp>
      <p:sp>
        <p:nvSpPr>
          <p:cNvPr id="18" name="TextBox 17"/>
          <p:cNvSpPr txBox="1"/>
          <p:nvPr/>
        </p:nvSpPr>
        <p:spPr>
          <a:xfrm>
            <a:off x="3291840" y="3054096"/>
            <a:ext cx="8503920" cy="685800"/>
          </a:xfrm>
          <a:prstGeom prst="rect">
            <a:avLst/>
          </a:prstGeom>
          <a:noFill/>
        </p:spPr>
        <p:txBody>
          <a:bodyPr wrap="square">
            <a:spAutoFit/>
          </a:bodyPr>
          <a:lstStyle/>
          <a:p>
            <a:pPr algn="l"/>
            <a:r>
              <a:rPr sz="1100" b="0" i="0">
                <a:solidFill>
                  <a:srgbClr val="CCD6E0"/>
                </a:solidFill>
              </a:rPr>
              <a:t>Design and control of warehouse order picking — Reviews order-batching strategies; our destination-grouping bonus implements a lightweight batch-picking analogue.</a:t>
            </a:r>
          </a:p>
        </p:txBody>
      </p:sp>
      <p:sp>
        <p:nvSpPr>
          <p:cNvPr id="19" name="Rectangle 18"/>
          <p:cNvSpPr/>
          <p:nvPr/>
        </p:nvSpPr>
        <p:spPr>
          <a:xfrm>
            <a:off x="274320" y="3931920"/>
            <a:ext cx="11640312" cy="804672"/>
          </a:xfrm>
          <a:prstGeom prst="rect">
            <a:avLst/>
          </a:prstGeom>
          <a:solidFill>
            <a:srgbClr val="1220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274320" y="3931920"/>
            <a:ext cx="54864" cy="804672"/>
          </a:xfrm>
          <a:prstGeom prst="rect">
            <a:avLst/>
          </a:prstGeom>
          <a:solidFill>
            <a:srgbClr val="90E0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57200" y="3968496"/>
            <a:ext cx="2743200" cy="320040"/>
          </a:xfrm>
          <a:prstGeom prst="rect">
            <a:avLst/>
          </a:prstGeom>
          <a:noFill/>
        </p:spPr>
        <p:txBody>
          <a:bodyPr wrap="square">
            <a:spAutoFit/>
          </a:bodyPr>
          <a:lstStyle/>
          <a:p>
            <a:pPr algn="l"/>
            <a:r>
              <a:rPr sz="1200" b="1" i="0">
                <a:solidFill>
                  <a:srgbClr val="90E0EF"/>
                </a:solidFill>
              </a:rPr>
              <a:t>[4] Boysen et al. (2010)</a:t>
            </a:r>
          </a:p>
        </p:txBody>
      </p:sp>
      <p:sp>
        <p:nvSpPr>
          <p:cNvPr id="22" name="TextBox 21"/>
          <p:cNvSpPr txBox="1"/>
          <p:nvPr/>
        </p:nvSpPr>
        <p:spPr>
          <a:xfrm>
            <a:off x="3291840" y="3968496"/>
            <a:ext cx="8503920" cy="685800"/>
          </a:xfrm>
          <a:prstGeom prst="rect">
            <a:avLst/>
          </a:prstGeom>
          <a:noFill/>
        </p:spPr>
        <p:txBody>
          <a:bodyPr wrap="square">
            <a:spAutoFit/>
          </a:bodyPr>
          <a:lstStyle/>
          <a:p>
            <a:pPr algn="l"/>
            <a:r>
              <a:rPr sz="1100" b="0" i="0">
                <a:solidFill>
                  <a:srgbClr val="CCD6E0"/>
                </a:solidFill>
              </a:rPr>
              <a:t>A survey on cross-docking — Classifies truck-to-truck transfer strategies; our cross-dock workflow maps to the direct-transfer model with priority-based sequencing.</a:t>
            </a:r>
          </a:p>
        </p:txBody>
      </p:sp>
      <p:sp>
        <p:nvSpPr>
          <p:cNvPr id="23" name="Rectangle 22"/>
          <p:cNvSpPr/>
          <p:nvPr/>
        </p:nvSpPr>
        <p:spPr>
          <a:xfrm>
            <a:off x="274320" y="4846320"/>
            <a:ext cx="11640312" cy="804672"/>
          </a:xfrm>
          <a:prstGeom prst="rect">
            <a:avLst/>
          </a:prstGeom>
          <a:solidFill>
            <a:srgbClr val="1220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274320" y="4846320"/>
            <a:ext cx="54864" cy="804672"/>
          </a:xfrm>
          <a:prstGeom prst="rect">
            <a:avLst/>
          </a:prstGeom>
          <a:solidFill>
            <a:srgbClr val="A8D8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57200" y="4882896"/>
            <a:ext cx="2743200" cy="320040"/>
          </a:xfrm>
          <a:prstGeom prst="rect">
            <a:avLst/>
          </a:prstGeom>
          <a:noFill/>
        </p:spPr>
        <p:txBody>
          <a:bodyPr wrap="square">
            <a:spAutoFit/>
          </a:bodyPr>
          <a:lstStyle/>
          <a:p>
            <a:pPr algn="l"/>
            <a:r>
              <a:rPr sz="1200" b="1" i="0">
                <a:solidFill>
                  <a:srgbClr val="A8D8EA"/>
                </a:solidFill>
              </a:rPr>
              <a:t>[5] Guo et al. (2017)</a:t>
            </a:r>
          </a:p>
        </p:txBody>
      </p:sp>
      <p:sp>
        <p:nvSpPr>
          <p:cNvPr id="26" name="TextBox 25"/>
          <p:cNvSpPr txBox="1"/>
          <p:nvPr/>
        </p:nvSpPr>
        <p:spPr>
          <a:xfrm>
            <a:off x="3291840" y="4882896"/>
            <a:ext cx="8503920" cy="685800"/>
          </a:xfrm>
          <a:prstGeom prst="rect">
            <a:avLst/>
          </a:prstGeom>
          <a:noFill/>
        </p:spPr>
        <p:txBody>
          <a:bodyPr wrap="square">
            <a:spAutoFit/>
          </a:bodyPr>
          <a:lstStyle/>
          <a:p>
            <a:pPr algn="l"/>
            <a:r>
              <a:rPr sz="1100" b="0" i="0">
                <a:solidFill>
                  <a:srgbClr val="CCD6E0"/>
                </a:solidFill>
              </a:rPr>
              <a:t>RFID/IoT warehouse tracking systems — Surveys real-time tracking approaches; QR-code scanning in SWMS provides equivalent event-driven traceability at lower infrastructure cost.</a:t>
            </a:r>
          </a:p>
        </p:txBody>
      </p:sp>
      <p:sp>
        <p:nvSpPr>
          <p:cNvPr id="27" name="Rectangle 26"/>
          <p:cNvSpPr/>
          <p:nvPr/>
        </p:nvSpPr>
        <p:spPr>
          <a:xfrm>
            <a:off x="274320" y="5760720"/>
            <a:ext cx="11640312" cy="804672"/>
          </a:xfrm>
          <a:prstGeom prst="rect">
            <a:avLst/>
          </a:prstGeom>
          <a:solidFill>
            <a:srgbClr val="1220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274320" y="5760720"/>
            <a:ext cx="54864" cy="804672"/>
          </a:xfrm>
          <a:prstGeom prst="rect">
            <a:avLst/>
          </a:prstGeom>
          <a:solidFill>
            <a:srgbClr val="CCD6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57200" y="5797296"/>
            <a:ext cx="2743200" cy="320040"/>
          </a:xfrm>
          <a:prstGeom prst="rect">
            <a:avLst/>
          </a:prstGeom>
          <a:noFill/>
        </p:spPr>
        <p:txBody>
          <a:bodyPr wrap="square">
            <a:spAutoFit/>
          </a:bodyPr>
          <a:lstStyle/>
          <a:p>
            <a:pPr algn="l"/>
            <a:r>
              <a:rPr sz="1200" b="1" i="0">
                <a:solidFill>
                  <a:srgbClr val="CCD6E0"/>
                </a:solidFill>
              </a:rPr>
              <a:t>[6] FastAPI &amp; React SSE Patterns (2023)</a:t>
            </a:r>
          </a:p>
        </p:txBody>
      </p:sp>
      <p:sp>
        <p:nvSpPr>
          <p:cNvPr id="30" name="TextBox 29"/>
          <p:cNvSpPr txBox="1"/>
          <p:nvPr/>
        </p:nvSpPr>
        <p:spPr>
          <a:xfrm>
            <a:off x="3291840" y="5797296"/>
            <a:ext cx="8503920" cy="685800"/>
          </a:xfrm>
          <a:prstGeom prst="rect">
            <a:avLst/>
          </a:prstGeom>
          <a:noFill/>
        </p:spPr>
        <p:txBody>
          <a:bodyPr wrap="square">
            <a:spAutoFit/>
          </a:bodyPr>
          <a:lstStyle/>
          <a:p>
            <a:pPr algn="l"/>
            <a:r>
              <a:rPr sz="1100" b="0" i="0">
                <a:solidFill>
                  <a:srgbClr val="CCD6E0"/>
                </a:solidFill>
              </a:rPr>
              <a:t>Modern event-driven full-stack architectures — Guides our SSE broadcast design for real-time task push without WebSocket complexity.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51560"/>
          </a:xfrm>
          <a:prstGeom prst="rect">
            <a:avLst/>
          </a:prstGeom>
          <a:solidFill>
            <a:srgbClr val="1626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24128"/>
            <a:ext cx="12188952" cy="457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73152"/>
            <a:ext cx="11430000" cy="640080"/>
          </a:xfrm>
          <a:prstGeom prst="rect">
            <a:avLst/>
          </a:prstGeom>
          <a:noFill/>
        </p:spPr>
        <p:txBody>
          <a:bodyPr wrap="square">
            <a:spAutoFit/>
          </a:bodyPr>
          <a:lstStyle/>
          <a:p>
            <a:pPr algn="l"/>
            <a:r>
              <a:rPr sz="2800" b="1" i="0">
                <a:solidFill>
                  <a:srgbClr val="00B4D8"/>
                </a:solidFill>
              </a:rPr>
              <a:t>System Architecture</a:t>
            </a:r>
          </a:p>
        </p:txBody>
      </p:sp>
      <p:sp>
        <p:nvSpPr>
          <p:cNvPr id="6" name="TextBox 5"/>
          <p:cNvSpPr txBox="1"/>
          <p:nvPr/>
        </p:nvSpPr>
        <p:spPr>
          <a:xfrm>
            <a:off x="365760" y="658368"/>
            <a:ext cx="11430000" cy="347472"/>
          </a:xfrm>
          <a:prstGeom prst="rect">
            <a:avLst/>
          </a:prstGeom>
          <a:noFill/>
        </p:spPr>
        <p:txBody>
          <a:bodyPr wrap="square">
            <a:spAutoFit/>
          </a:bodyPr>
          <a:lstStyle/>
          <a:p>
            <a:pPr algn="l"/>
            <a:r>
              <a:rPr sz="1300" b="0" i="1">
                <a:solidFill>
                  <a:srgbClr val="A8D8EA"/>
                </a:solidFill>
              </a:rPr>
              <a:t>Three-Tier Service Architecture with PostgreSQL Persistence Layer</a:t>
            </a:r>
          </a:p>
        </p:txBody>
      </p:sp>
      <p:sp>
        <p:nvSpPr>
          <p:cNvPr id="7" name="Rectangle 6"/>
          <p:cNvSpPr/>
          <p:nvPr/>
        </p:nvSpPr>
        <p:spPr>
          <a:xfrm>
            <a:off x="228600" y="1143000"/>
            <a:ext cx="1417320" cy="1417320"/>
          </a:xfrm>
          <a:prstGeom prst="rect">
            <a:avLst/>
          </a:prstGeom>
          <a:solidFill>
            <a:srgbClr val="0A14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74320" y="1645920"/>
            <a:ext cx="1325880" cy="457200"/>
          </a:xfrm>
          <a:prstGeom prst="rect">
            <a:avLst/>
          </a:prstGeom>
          <a:noFill/>
        </p:spPr>
        <p:txBody>
          <a:bodyPr wrap="square">
            <a:spAutoFit/>
          </a:bodyPr>
          <a:lstStyle/>
          <a:p>
            <a:pPr algn="ctr"/>
            <a:r>
              <a:rPr sz="900" b="1" i="0">
                <a:solidFill>
                  <a:srgbClr val="00B4D8"/>
                </a:solidFill>
              </a:rPr>
              <a:t>PRESENTATION LAYER</a:t>
            </a:r>
          </a:p>
        </p:txBody>
      </p:sp>
      <p:sp>
        <p:nvSpPr>
          <p:cNvPr id="9" name="Rectangle 8"/>
          <p:cNvSpPr/>
          <p:nvPr/>
        </p:nvSpPr>
        <p:spPr>
          <a:xfrm>
            <a:off x="1737360" y="2514600"/>
            <a:ext cx="10515600" cy="2743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28600" y="2788920"/>
            <a:ext cx="1417320" cy="1417320"/>
          </a:xfrm>
          <a:prstGeom prst="rect">
            <a:avLst/>
          </a:prstGeom>
          <a:solidFill>
            <a:srgbClr val="0A14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74320" y="3291839"/>
            <a:ext cx="1325880" cy="457200"/>
          </a:xfrm>
          <a:prstGeom prst="rect">
            <a:avLst/>
          </a:prstGeom>
          <a:noFill/>
        </p:spPr>
        <p:txBody>
          <a:bodyPr wrap="square">
            <a:spAutoFit/>
          </a:bodyPr>
          <a:lstStyle/>
          <a:p>
            <a:pPr algn="ctr"/>
            <a:r>
              <a:rPr sz="900" b="1" i="0">
                <a:solidFill>
                  <a:srgbClr val="FFD166"/>
                </a:solidFill>
              </a:rPr>
              <a:t>APPLICATION LAYER</a:t>
            </a:r>
          </a:p>
        </p:txBody>
      </p:sp>
      <p:sp>
        <p:nvSpPr>
          <p:cNvPr id="12" name="Rectangle 11"/>
          <p:cNvSpPr/>
          <p:nvPr/>
        </p:nvSpPr>
        <p:spPr>
          <a:xfrm>
            <a:off x="1737360" y="4160520"/>
            <a:ext cx="10515600" cy="27432"/>
          </a:xfrm>
          <a:prstGeom prst="rect">
            <a:avLst/>
          </a:prstGeom>
          <a:solidFill>
            <a:srgbClr val="FFD1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28600" y="4434840"/>
            <a:ext cx="1417320" cy="1417320"/>
          </a:xfrm>
          <a:prstGeom prst="rect">
            <a:avLst/>
          </a:prstGeom>
          <a:solidFill>
            <a:srgbClr val="0A14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74320" y="4937759"/>
            <a:ext cx="1325880" cy="457200"/>
          </a:xfrm>
          <a:prstGeom prst="rect">
            <a:avLst/>
          </a:prstGeom>
          <a:noFill/>
        </p:spPr>
        <p:txBody>
          <a:bodyPr wrap="square">
            <a:spAutoFit/>
          </a:bodyPr>
          <a:lstStyle/>
          <a:p>
            <a:pPr algn="ctr"/>
            <a:r>
              <a:rPr sz="900" b="1" i="0">
                <a:solidFill>
                  <a:srgbClr val="06D6A0"/>
                </a:solidFill>
              </a:rPr>
              <a:t>DATA LAYER</a:t>
            </a:r>
          </a:p>
        </p:txBody>
      </p:sp>
      <p:sp>
        <p:nvSpPr>
          <p:cNvPr id="15" name="Rectangle 14"/>
          <p:cNvSpPr/>
          <p:nvPr/>
        </p:nvSpPr>
        <p:spPr>
          <a:xfrm>
            <a:off x="1737360" y="5806440"/>
            <a:ext cx="10515600" cy="27432"/>
          </a:xfrm>
          <a:prstGeom prst="rect">
            <a:avLst/>
          </a:prstGeom>
          <a:solidFill>
            <a:srgbClr val="06D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1828800" y="1188720"/>
            <a:ext cx="1737360" cy="1325880"/>
          </a:xfrm>
          <a:prstGeom prst="rect">
            <a:avLst/>
          </a:prstGeom>
          <a:solidFill>
            <a:srgbClr val="005F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874519" y="1353312"/>
            <a:ext cx="1645920" cy="1005840"/>
          </a:xfrm>
          <a:prstGeom prst="rect">
            <a:avLst/>
          </a:prstGeom>
          <a:noFill/>
        </p:spPr>
        <p:txBody>
          <a:bodyPr wrap="square">
            <a:spAutoFit/>
          </a:bodyPr>
          <a:lstStyle/>
          <a:p>
            <a:pPr algn="ctr"/>
            <a:r>
              <a:rPr sz="1200" b="1" i="0">
                <a:solidFill>
                  <a:srgbClr val="FFFFFF"/>
                </a:solidFill>
              </a:rPr>
              <a:t>Manager
Dashboard</a:t>
            </a:r>
          </a:p>
        </p:txBody>
      </p:sp>
      <p:sp>
        <p:nvSpPr>
          <p:cNvPr id="18" name="Rectangle 17"/>
          <p:cNvSpPr/>
          <p:nvPr/>
        </p:nvSpPr>
        <p:spPr>
          <a:xfrm>
            <a:off x="3840480" y="1188720"/>
            <a:ext cx="1737360" cy="1325880"/>
          </a:xfrm>
          <a:prstGeom prst="rect">
            <a:avLst/>
          </a:prstGeom>
          <a:solidFill>
            <a:srgbClr val="005F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886200" y="1353312"/>
            <a:ext cx="1645920" cy="1005840"/>
          </a:xfrm>
          <a:prstGeom prst="rect">
            <a:avLst/>
          </a:prstGeom>
          <a:noFill/>
        </p:spPr>
        <p:txBody>
          <a:bodyPr wrap="square">
            <a:spAutoFit/>
          </a:bodyPr>
          <a:lstStyle/>
          <a:p>
            <a:pPr algn="ctr"/>
            <a:r>
              <a:rPr sz="1200" b="1" i="0">
                <a:solidFill>
                  <a:srgbClr val="FFFFFF"/>
                </a:solidFill>
              </a:rPr>
              <a:t>Worker
Dashboard</a:t>
            </a:r>
          </a:p>
        </p:txBody>
      </p:sp>
      <p:sp>
        <p:nvSpPr>
          <p:cNvPr id="20" name="Rectangle 19"/>
          <p:cNvSpPr/>
          <p:nvPr/>
        </p:nvSpPr>
        <p:spPr>
          <a:xfrm>
            <a:off x="5852160" y="1188720"/>
            <a:ext cx="1737360" cy="1325880"/>
          </a:xfrm>
          <a:prstGeom prst="rect">
            <a:avLst/>
          </a:prstGeom>
          <a:solidFill>
            <a:srgbClr val="005F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897880" y="1353312"/>
            <a:ext cx="1645920" cy="1005840"/>
          </a:xfrm>
          <a:prstGeom prst="rect">
            <a:avLst/>
          </a:prstGeom>
          <a:noFill/>
        </p:spPr>
        <p:txBody>
          <a:bodyPr wrap="square">
            <a:spAutoFit/>
          </a:bodyPr>
          <a:lstStyle/>
          <a:p>
            <a:pPr algn="ctr"/>
            <a:r>
              <a:rPr sz="1200" b="1" i="0">
                <a:solidFill>
                  <a:srgbClr val="FFFFFF"/>
                </a:solidFill>
              </a:rPr>
              <a:t>Login
Page</a:t>
            </a:r>
          </a:p>
        </p:txBody>
      </p:sp>
      <p:sp>
        <p:nvSpPr>
          <p:cNvPr id="22" name="Rectangle 21"/>
          <p:cNvSpPr/>
          <p:nvPr/>
        </p:nvSpPr>
        <p:spPr>
          <a:xfrm>
            <a:off x="7863840" y="1188720"/>
            <a:ext cx="1737360" cy="1325880"/>
          </a:xfrm>
          <a:prstGeom prst="rect">
            <a:avLst/>
          </a:prstGeom>
          <a:solidFill>
            <a:srgbClr val="005F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909560" y="1353312"/>
            <a:ext cx="1645920" cy="1005840"/>
          </a:xfrm>
          <a:prstGeom prst="rect">
            <a:avLst/>
          </a:prstGeom>
          <a:noFill/>
        </p:spPr>
        <p:txBody>
          <a:bodyPr wrap="square">
            <a:spAutoFit/>
          </a:bodyPr>
          <a:lstStyle/>
          <a:p>
            <a:pPr algn="ctr"/>
            <a:r>
              <a:rPr sz="1200" b="1" i="0">
                <a:solidFill>
                  <a:srgbClr val="FFFFFF"/>
                </a:solidFill>
              </a:rPr>
              <a:t>QR Code
Scanner</a:t>
            </a:r>
          </a:p>
        </p:txBody>
      </p:sp>
      <p:sp>
        <p:nvSpPr>
          <p:cNvPr id="24" name="Rectangle 23"/>
          <p:cNvSpPr/>
          <p:nvPr/>
        </p:nvSpPr>
        <p:spPr>
          <a:xfrm>
            <a:off x="9875520" y="1188720"/>
            <a:ext cx="1737360" cy="1325880"/>
          </a:xfrm>
          <a:prstGeom prst="rect">
            <a:avLst/>
          </a:prstGeom>
          <a:solidFill>
            <a:srgbClr val="005F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921240" y="1353312"/>
            <a:ext cx="1645920" cy="1005840"/>
          </a:xfrm>
          <a:prstGeom prst="rect">
            <a:avLst/>
          </a:prstGeom>
          <a:noFill/>
        </p:spPr>
        <p:txBody>
          <a:bodyPr wrap="square">
            <a:spAutoFit/>
          </a:bodyPr>
          <a:lstStyle/>
          <a:p>
            <a:pPr algn="ctr"/>
            <a:r>
              <a:rPr sz="1200" b="1" i="0">
                <a:solidFill>
                  <a:srgbClr val="FFFFFF"/>
                </a:solidFill>
              </a:rPr>
              <a:t>KPI
Charts</a:t>
            </a:r>
          </a:p>
        </p:txBody>
      </p:sp>
      <p:sp>
        <p:nvSpPr>
          <p:cNvPr id="26" name="TextBox 25"/>
          <p:cNvSpPr txBox="1"/>
          <p:nvPr/>
        </p:nvSpPr>
        <p:spPr>
          <a:xfrm>
            <a:off x="1828800" y="2578608"/>
            <a:ext cx="9811512" cy="274320"/>
          </a:xfrm>
          <a:prstGeom prst="rect">
            <a:avLst/>
          </a:prstGeom>
          <a:noFill/>
        </p:spPr>
        <p:txBody>
          <a:bodyPr wrap="square">
            <a:spAutoFit/>
          </a:bodyPr>
          <a:lstStyle/>
          <a:p>
            <a:pPr algn="ctr"/>
            <a:r>
              <a:rPr sz="1000" b="0" i="1">
                <a:solidFill>
                  <a:srgbClr val="A8D8EA"/>
                </a:solidFill>
              </a:rPr>
              <a:t>React 19  ·  Vite  ·  Axios  ·  SSE Hook</a:t>
            </a:r>
          </a:p>
        </p:txBody>
      </p:sp>
      <p:sp>
        <p:nvSpPr>
          <p:cNvPr id="27" name="Rectangle 26"/>
          <p:cNvSpPr/>
          <p:nvPr/>
        </p:nvSpPr>
        <p:spPr>
          <a:xfrm>
            <a:off x="1828800" y="2834640"/>
            <a:ext cx="2286000" cy="1325880"/>
          </a:xfrm>
          <a:prstGeom prst="rect">
            <a:avLst/>
          </a:prstGeom>
          <a:solidFill>
            <a:srgbClr val="004F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1828800" y="2834640"/>
            <a:ext cx="2286000" cy="457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901952" y="2926080"/>
            <a:ext cx="2148840" cy="1097280"/>
          </a:xfrm>
          <a:prstGeom prst="rect">
            <a:avLst/>
          </a:prstGeom>
          <a:noFill/>
        </p:spPr>
        <p:txBody>
          <a:bodyPr wrap="square">
            <a:spAutoFit/>
          </a:bodyPr>
          <a:lstStyle/>
          <a:p>
            <a:pPr algn="ctr"/>
            <a:r>
              <a:rPr sz="1200" b="1" i="0">
                <a:solidFill>
                  <a:srgbClr val="00B4D8"/>
                </a:solidFill>
              </a:rPr>
              <a:t>Sinatra REST API
:4567</a:t>
            </a:r>
          </a:p>
        </p:txBody>
      </p:sp>
      <p:sp>
        <p:nvSpPr>
          <p:cNvPr id="30" name="Rectangle 29"/>
          <p:cNvSpPr/>
          <p:nvPr/>
        </p:nvSpPr>
        <p:spPr>
          <a:xfrm>
            <a:off x="4480560" y="2834640"/>
            <a:ext cx="2286000" cy="1325880"/>
          </a:xfrm>
          <a:prstGeom prst="rect">
            <a:avLst/>
          </a:prstGeom>
          <a:solidFill>
            <a:srgbClr val="4A3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4480560" y="2834640"/>
            <a:ext cx="2286000" cy="45720"/>
          </a:xfrm>
          <a:prstGeom prst="rect">
            <a:avLst/>
          </a:prstGeom>
          <a:solidFill>
            <a:srgbClr val="FFD1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553712" y="2926080"/>
            <a:ext cx="2148840" cy="1097280"/>
          </a:xfrm>
          <a:prstGeom prst="rect">
            <a:avLst/>
          </a:prstGeom>
          <a:noFill/>
        </p:spPr>
        <p:txBody>
          <a:bodyPr wrap="square">
            <a:spAutoFit/>
          </a:bodyPr>
          <a:lstStyle/>
          <a:p>
            <a:pPr algn="ctr"/>
            <a:r>
              <a:rPr sz="1200" b="1" i="0">
                <a:solidFill>
                  <a:srgbClr val="FFD166"/>
                </a:solidFill>
              </a:rPr>
              <a:t>Auth &amp; RBAC
Middleware</a:t>
            </a:r>
          </a:p>
        </p:txBody>
      </p:sp>
      <p:sp>
        <p:nvSpPr>
          <p:cNvPr id="33" name="Rectangle 32"/>
          <p:cNvSpPr/>
          <p:nvPr/>
        </p:nvSpPr>
        <p:spPr>
          <a:xfrm>
            <a:off x="7132320" y="2834640"/>
            <a:ext cx="2286000" cy="1325880"/>
          </a:xfrm>
          <a:prstGeom prst="rect">
            <a:avLst/>
          </a:prstGeom>
          <a:solidFill>
            <a:srgbClr val="013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7132320" y="2834640"/>
            <a:ext cx="2286000" cy="45720"/>
          </a:xfrm>
          <a:prstGeom prst="rect">
            <a:avLst/>
          </a:prstGeom>
          <a:solidFill>
            <a:srgbClr val="06D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205472" y="2926080"/>
            <a:ext cx="2148840" cy="1097280"/>
          </a:xfrm>
          <a:prstGeom prst="rect">
            <a:avLst/>
          </a:prstGeom>
          <a:noFill/>
        </p:spPr>
        <p:txBody>
          <a:bodyPr wrap="square">
            <a:spAutoFit/>
          </a:bodyPr>
          <a:lstStyle/>
          <a:p>
            <a:pPr algn="ctr"/>
            <a:r>
              <a:rPr sz="1200" b="1" i="0">
                <a:solidFill>
                  <a:srgbClr val="06D6A0"/>
                </a:solidFill>
              </a:rPr>
              <a:t>Task / Optimizer
Services</a:t>
            </a:r>
          </a:p>
        </p:txBody>
      </p:sp>
      <p:sp>
        <p:nvSpPr>
          <p:cNvPr id="36" name="Rectangle 35"/>
          <p:cNvSpPr/>
          <p:nvPr/>
        </p:nvSpPr>
        <p:spPr>
          <a:xfrm>
            <a:off x="9784080" y="2834640"/>
            <a:ext cx="2286000" cy="1325880"/>
          </a:xfrm>
          <a:prstGeom prst="rect">
            <a:avLst/>
          </a:prstGeom>
          <a:solidFill>
            <a:srgbClr val="4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9784080" y="2834640"/>
            <a:ext cx="2286000" cy="45720"/>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857232" y="2926080"/>
            <a:ext cx="2148840" cy="1097280"/>
          </a:xfrm>
          <a:prstGeom prst="rect">
            <a:avLst/>
          </a:prstGeom>
          <a:noFill/>
        </p:spPr>
        <p:txBody>
          <a:bodyPr wrap="square">
            <a:spAutoFit/>
          </a:bodyPr>
          <a:lstStyle/>
          <a:p>
            <a:pPr algn="ctr"/>
            <a:r>
              <a:rPr sz="1200" b="1" i="0">
                <a:solidFill>
                  <a:srgbClr val="FF6B6B"/>
                </a:solidFill>
              </a:rPr>
              <a:t>FastAPI Optimizer
:8000</a:t>
            </a:r>
          </a:p>
        </p:txBody>
      </p:sp>
      <p:sp>
        <p:nvSpPr>
          <p:cNvPr id="39" name="TextBox 38"/>
          <p:cNvSpPr txBox="1"/>
          <p:nvPr/>
        </p:nvSpPr>
        <p:spPr>
          <a:xfrm>
            <a:off x="8412480" y="3108960"/>
            <a:ext cx="1280160" cy="548640"/>
          </a:xfrm>
          <a:prstGeom prst="rect">
            <a:avLst/>
          </a:prstGeom>
          <a:noFill/>
        </p:spPr>
        <p:txBody>
          <a:bodyPr wrap="square">
            <a:spAutoFit/>
          </a:bodyPr>
          <a:lstStyle/>
          <a:p>
            <a:pPr algn="ctr"/>
            <a:r>
              <a:rPr sz="900" b="0" i="1">
                <a:solidFill>
                  <a:srgbClr val="A8D8EA"/>
                </a:solidFill>
              </a:rPr>
              <a:t>HTTP POST
/optimize</a:t>
            </a:r>
          </a:p>
        </p:txBody>
      </p:sp>
      <p:sp>
        <p:nvSpPr>
          <p:cNvPr id="40" name="Rectangle 39"/>
          <p:cNvSpPr/>
          <p:nvPr/>
        </p:nvSpPr>
        <p:spPr>
          <a:xfrm>
            <a:off x="1828800" y="4480560"/>
            <a:ext cx="2286000" cy="1417320"/>
          </a:xfrm>
          <a:prstGeom prst="rect">
            <a:avLst/>
          </a:prstGeom>
          <a:solidFill>
            <a:srgbClr val="004F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1901952" y="4572000"/>
            <a:ext cx="2148840" cy="1234440"/>
          </a:xfrm>
          <a:prstGeom prst="rect">
            <a:avLst/>
          </a:prstGeom>
          <a:noFill/>
        </p:spPr>
        <p:txBody>
          <a:bodyPr wrap="square">
            <a:spAutoFit/>
          </a:bodyPr>
          <a:lstStyle/>
          <a:p>
            <a:pPr algn="ctr"/>
            <a:r>
              <a:rPr sz="1200" b="1" i="0">
                <a:solidFill>
                  <a:srgbClr val="00B4D8"/>
                </a:solidFill>
              </a:rPr>
              <a:t>PostgreSQL
Database</a:t>
            </a:r>
          </a:p>
        </p:txBody>
      </p:sp>
      <p:sp>
        <p:nvSpPr>
          <p:cNvPr id="42" name="Rectangle 41"/>
          <p:cNvSpPr/>
          <p:nvPr/>
        </p:nvSpPr>
        <p:spPr>
          <a:xfrm>
            <a:off x="4480560" y="4480560"/>
            <a:ext cx="2286000" cy="1417320"/>
          </a:xfrm>
          <a:prstGeom prst="rect">
            <a:avLst/>
          </a:prstGeom>
          <a:solidFill>
            <a:srgbClr val="0C1E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4553712" y="4572000"/>
            <a:ext cx="2148840" cy="1234440"/>
          </a:xfrm>
          <a:prstGeom prst="rect">
            <a:avLst/>
          </a:prstGeom>
          <a:noFill/>
        </p:spPr>
        <p:txBody>
          <a:bodyPr wrap="square">
            <a:spAutoFit/>
          </a:bodyPr>
          <a:lstStyle/>
          <a:p>
            <a:pPr algn="ctr"/>
            <a:r>
              <a:rPr sz="1200" b="0" i="0">
                <a:solidFill>
                  <a:srgbClr val="CCD6E0"/>
                </a:solidFill>
              </a:rPr>
              <a:t>pallets
products
users</a:t>
            </a:r>
          </a:p>
        </p:txBody>
      </p:sp>
      <p:sp>
        <p:nvSpPr>
          <p:cNvPr id="44" name="Rectangle 43"/>
          <p:cNvSpPr/>
          <p:nvPr/>
        </p:nvSpPr>
        <p:spPr>
          <a:xfrm>
            <a:off x="7132320" y="4480560"/>
            <a:ext cx="2286000" cy="1417320"/>
          </a:xfrm>
          <a:prstGeom prst="rect">
            <a:avLst/>
          </a:prstGeom>
          <a:solidFill>
            <a:srgbClr val="0C1E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7205472" y="4572000"/>
            <a:ext cx="2148840" cy="1234440"/>
          </a:xfrm>
          <a:prstGeom prst="rect">
            <a:avLst/>
          </a:prstGeom>
          <a:noFill/>
        </p:spPr>
        <p:txBody>
          <a:bodyPr wrap="square">
            <a:spAutoFit/>
          </a:bodyPr>
          <a:lstStyle/>
          <a:p>
            <a:pPr algn="ctr"/>
            <a:r>
              <a:rPr sz="1200" b="0" i="0">
                <a:solidFill>
                  <a:srgbClr val="CCD6E0"/>
                </a:solidFill>
              </a:rPr>
              <a:t>trucks
tasks
locations</a:t>
            </a:r>
          </a:p>
        </p:txBody>
      </p:sp>
      <p:sp>
        <p:nvSpPr>
          <p:cNvPr id="46" name="Rectangle 45"/>
          <p:cNvSpPr/>
          <p:nvPr/>
        </p:nvSpPr>
        <p:spPr>
          <a:xfrm>
            <a:off x="9784080" y="4480560"/>
            <a:ext cx="2286000" cy="1417320"/>
          </a:xfrm>
          <a:prstGeom prst="rect">
            <a:avLst/>
          </a:prstGeom>
          <a:solidFill>
            <a:srgbClr val="0C1E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9857232" y="4572000"/>
            <a:ext cx="2148840" cy="1234440"/>
          </a:xfrm>
          <a:prstGeom prst="rect">
            <a:avLst/>
          </a:prstGeom>
          <a:noFill/>
        </p:spPr>
        <p:txBody>
          <a:bodyPr wrap="square">
            <a:spAutoFit/>
          </a:bodyPr>
          <a:lstStyle/>
          <a:p>
            <a:pPr algn="ctr"/>
            <a:r>
              <a:rPr sz="1200" b="0" i="0">
                <a:solidFill>
                  <a:srgbClr val="CCD6E0"/>
                </a:solidFill>
              </a:rPr>
              <a:t>events
alerts
accidents</a:t>
            </a:r>
          </a:p>
        </p:txBody>
      </p:sp>
      <p:sp>
        <p:nvSpPr>
          <p:cNvPr id="48" name="Rectangle 47"/>
          <p:cNvSpPr/>
          <p:nvPr/>
        </p:nvSpPr>
        <p:spPr>
          <a:xfrm>
            <a:off x="274320" y="6126480"/>
            <a:ext cx="3200400" cy="502920"/>
          </a:xfrm>
          <a:prstGeom prst="rect">
            <a:avLst/>
          </a:prstGeom>
          <a:solidFill>
            <a:srgbClr val="0A14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365760" y="6153912"/>
            <a:ext cx="3108960" cy="384048"/>
          </a:xfrm>
          <a:prstGeom prst="rect">
            <a:avLst/>
          </a:prstGeom>
          <a:noFill/>
        </p:spPr>
        <p:txBody>
          <a:bodyPr wrap="square">
            <a:spAutoFit/>
          </a:bodyPr>
          <a:lstStyle/>
          <a:p>
            <a:pPr algn="l"/>
            <a:r>
              <a:rPr sz="1100" b="0" i="1">
                <a:solidFill>
                  <a:srgbClr val="00B4D8"/>
                </a:solidFill>
              </a:rPr>
              <a:t>⚡  SSE real-time push  →  all connected clients</a:t>
            </a:r>
          </a:p>
        </p:txBody>
      </p:sp>
      <p:sp>
        <p:nvSpPr>
          <p:cNvPr id="50" name="Rectangle 49"/>
          <p:cNvSpPr/>
          <p:nvPr/>
        </p:nvSpPr>
        <p:spPr>
          <a:xfrm>
            <a:off x="3657600" y="6126480"/>
            <a:ext cx="3657600" cy="502920"/>
          </a:xfrm>
          <a:prstGeom prst="rect">
            <a:avLst/>
          </a:prstGeom>
          <a:solidFill>
            <a:srgbClr val="0A14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3749039" y="6153912"/>
            <a:ext cx="3566160" cy="384048"/>
          </a:xfrm>
          <a:prstGeom prst="rect">
            <a:avLst/>
          </a:prstGeom>
          <a:noFill/>
        </p:spPr>
        <p:txBody>
          <a:bodyPr wrap="square">
            <a:spAutoFit/>
          </a:bodyPr>
          <a:lstStyle/>
          <a:p>
            <a:pPr algn="l"/>
            <a:r>
              <a:rPr sz="1100" b="0" i="1">
                <a:solidFill>
                  <a:srgbClr val="FFD166"/>
                </a:solidFill>
              </a:rPr>
              <a:t>🔐  JWT Auth  |  bcrypt passwords  |  Role guards</a:t>
            </a:r>
          </a:p>
        </p:txBody>
      </p:sp>
      <p:sp>
        <p:nvSpPr>
          <p:cNvPr id="52" name="Rectangle 51"/>
          <p:cNvSpPr/>
          <p:nvPr/>
        </p:nvSpPr>
        <p:spPr>
          <a:xfrm>
            <a:off x="7498079" y="6126480"/>
            <a:ext cx="4416552" cy="502920"/>
          </a:xfrm>
          <a:prstGeom prst="rect">
            <a:avLst/>
          </a:prstGeom>
          <a:solidFill>
            <a:srgbClr val="0A14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7589520" y="6153912"/>
            <a:ext cx="4297680" cy="384048"/>
          </a:xfrm>
          <a:prstGeom prst="rect">
            <a:avLst/>
          </a:prstGeom>
          <a:noFill/>
        </p:spPr>
        <p:txBody>
          <a:bodyPr wrap="square">
            <a:spAutoFit/>
          </a:bodyPr>
          <a:lstStyle/>
          <a:p>
            <a:pPr algn="l"/>
            <a:r>
              <a:rPr sz="1100" b="0" i="1">
                <a:solidFill>
                  <a:srgbClr val="06D6A0"/>
                </a:solidFill>
              </a:rPr>
              <a:t>📦  QR Code scan → auto task completion → SSE broadcast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51560"/>
          </a:xfrm>
          <a:prstGeom prst="rect">
            <a:avLst/>
          </a:prstGeom>
          <a:solidFill>
            <a:srgbClr val="1626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24128"/>
            <a:ext cx="12188952" cy="457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73152"/>
            <a:ext cx="11430000" cy="640080"/>
          </a:xfrm>
          <a:prstGeom prst="rect">
            <a:avLst/>
          </a:prstGeom>
          <a:noFill/>
        </p:spPr>
        <p:txBody>
          <a:bodyPr wrap="square">
            <a:spAutoFit/>
          </a:bodyPr>
          <a:lstStyle/>
          <a:p>
            <a:pPr algn="l"/>
            <a:r>
              <a:rPr sz="2800" b="1" i="0">
                <a:solidFill>
                  <a:srgbClr val="00B4D8"/>
                </a:solidFill>
              </a:rPr>
              <a:t>Flow Diagram — Cross-Dock Workflow</a:t>
            </a:r>
          </a:p>
        </p:txBody>
      </p:sp>
      <p:sp>
        <p:nvSpPr>
          <p:cNvPr id="6" name="TextBox 5"/>
          <p:cNvSpPr txBox="1"/>
          <p:nvPr/>
        </p:nvSpPr>
        <p:spPr>
          <a:xfrm>
            <a:off x="365760" y="658368"/>
            <a:ext cx="11430000" cy="347472"/>
          </a:xfrm>
          <a:prstGeom prst="rect">
            <a:avLst/>
          </a:prstGeom>
          <a:noFill/>
        </p:spPr>
        <p:txBody>
          <a:bodyPr wrap="square">
            <a:spAutoFit/>
          </a:bodyPr>
          <a:lstStyle/>
          <a:p>
            <a:pPr algn="l"/>
            <a:r>
              <a:rPr sz="1300" b="0" i="1">
                <a:solidFill>
                  <a:srgbClr val="A8D8EA"/>
                </a:solidFill>
              </a:rPr>
              <a:t>Pallet movement from inbound truck arrival to outbound departure</a:t>
            </a:r>
          </a:p>
        </p:txBody>
      </p:sp>
      <p:sp>
        <p:nvSpPr>
          <p:cNvPr id="7" name="Rectangle 6"/>
          <p:cNvSpPr/>
          <p:nvPr/>
        </p:nvSpPr>
        <p:spPr>
          <a:xfrm>
            <a:off x="457200" y="2103120"/>
            <a:ext cx="1554480" cy="1280160"/>
          </a:xfrm>
          <a:prstGeom prst="rect">
            <a:avLst/>
          </a:prstGeom>
          <a:solidFill>
            <a:srgbClr val="1626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57200" y="2103120"/>
            <a:ext cx="1554480" cy="6400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2194560"/>
            <a:ext cx="1463040" cy="1097280"/>
          </a:xfrm>
          <a:prstGeom prst="rect">
            <a:avLst/>
          </a:prstGeom>
          <a:noFill/>
        </p:spPr>
        <p:txBody>
          <a:bodyPr wrap="square">
            <a:spAutoFit/>
          </a:bodyPr>
          <a:lstStyle/>
          <a:p>
            <a:pPr algn="ctr"/>
            <a:r>
              <a:rPr sz="1200" b="1" i="0">
                <a:solidFill>
                  <a:srgbClr val="00B4D8"/>
                </a:solidFill>
              </a:rPr>
              <a:t>Inbound Truck
Arrives</a:t>
            </a:r>
          </a:p>
        </p:txBody>
      </p:sp>
      <p:sp>
        <p:nvSpPr>
          <p:cNvPr id="10" name="TextBox 9"/>
          <p:cNvSpPr txBox="1"/>
          <p:nvPr/>
        </p:nvSpPr>
        <p:spPr>
          <a:xfrm>
            <a:off x="2029967" y="2578608"/>
            <a:ext cx="502920" cy="365760"/>
          </a:xfrm>
          <a:prstGeom prst="rect">
            <a:avLst/>
          </a:prstGeom>
          <a:noFill/>
        </p:spPr>
        <p:txBody>
          <a:bodyPr wrap="square">
            <a:spAutoFit/>
          </a:bodyPr>
          <a:lstStyle/>
          <a:p>
            <a:pPr algn="ctr"/>
            <a:r>
              <a:rPr sz="2200" b="1" i="0">
                <a:solidFill>
                  <a:srgbClr val="90E0EF"/>
                </a:solidFill>
              </a:rPr>
              <a:t>→</a:t>
            </a:r>
          </a:p>
        </p:txBody>
      </p:sp>
      <p:sp>
        <p:nvSpPr>
          <p:cNvPr id="11" name="Rectangle 10"/>
          <p:cNvSpPr/>
          <p:nvPr/>
        </p:nvSpPr>
        <p:spPr>
          <a:xfrm>
            <a:off x="2148840" y="2103120"/>
            <a:ext cx="1554480" cy="1280160"/>
          </a:xfrm>
          <a:prstGeom prst="rect">
            <a:avLst/>
          </a:prstGeom>
          <a:solidFill>
            <a:srgbClr val="1626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2148840" y="2103120"/>
            <a:ext cx="1554480" cy="6400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194560" y="2194560"/>
            <a:ext cx="1463040" cy="1097280"/>
          </a:xfrm>
          <a:prstGeom prst="rect">
            <a:avLst/>
          </a:prstGeom>
          <a:noFill/>
        </p:spPr>
        <p:txBody>
          <a:bodyPr wrap="square">
            <a:spAutoFit/>
          </a:bodyPr>
          <a:lstStyle/>
          <a:p>
            <a:pPr algn="ctr"/>
            <a:r>
              <a:rPr sz="1200" b="1" i="0">
                <a:solidFill>
                  <a:srgbClr val="00B4D8"/>
                </a:solidFill>
              </a:rPr>
              <a:t>Worker Scans
Pallet QR Code</a:t>
            </a:r>
          </a:p>
        </p:txBody>
      </p:sp>
      <p:sp>
        <p:nvSpPr>
          <p:cNvPr id="14" name="TextBox 13"/>
          <p:cNvSpPr txBox="1"/>
          <p:nvPr/>
        </p:nvSpPr>
        <p:spPr>
          <a:xfrm>
            <a:off x="3721608" y="2578608"/>
            <a:ext cx="502920" cy="365760"/>
          </a:xfrm>
          <a:prstGeom prst="rect">
            <a:avLst/>
          </a:prstGeom>
          <a:noFill/>
        </p:spPr>
        <p:txBody>
          <a:bodyPr wrap="square">
            <a:spAutoFit/>
          </a:bodyPr>
          <a:lstStyle/>
          <a:p>
            <a:pPr algn="ctr"/>
            <a:r>
              <a:rPr sz="2200" b="1" i="0">
                <a:solidFill>
                  <a:srgbClr val="90E0EF"/>
                </a:solidFill>
              </a:rPr>
              <a:t>→</a:t>
            </a:r>
          </a:p>
        </p:txBody>
      </p:sp>
      <p:sp>
        <p:nvSpPr>
          <p:cNvPr id="15" name="Rectangle 14"/>
          <p:cNvSpPr/>
          <p:nvPr/>
        </p:nvSpPr>
        <p:spPr>
          <a:xfrm>
            <a:off x="3840480" y="2103120"/>
            <a:ext cx="1554480" cy="1280160"/>
          </a:xfrm>
          <a:prstGeom prst="rect">
            <a:avLst/>
          </a:prstGeom>
          <a:solidFill>
            <a:srgbClr val="1626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3840480" y="2103120"/>
            <a:ext cx="1554480" cy="64008"/>
          </a:xfrm>
          <a:prstGeom prst="rect">
            <a:avLst/>
          </a:prstGeom>
          <a:solidFill>
            <a:srgbClr val="FFD1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886200" y="2194560"/>
            <a:ext cx="1463040" cy="1097280"/>
          </a:xfrm>
          <a:prstGeom prst="rect">
            <a:avLst/>
          </a:prstGeom>
          <a:noFill/>
        </p:spPr>
        <p:txBody>
          <a:bodyPr wrap="square">
            <a:spAutoFit/>
          </a:bodyPr>
          <a:lstStyle/>
          <a:p>
            <a:pPr algn="ctr"/>
            <a:r>
              <a:rPr sz="1200" b="1" i="0">
                <a:solidFill>
                  <a:srgbClr val="FFD166"/>
                </a:solidFill>
              </a:rPr>
              <a:t>System Finds
Matching Truck</a:t>
            </a:r>
          </a:p>
        </p:txBody>
      </p:sp>
      <p:sp>
        <p:nvSpPr>
          <p:cNvPr id="18" name="TextBox 17"/>
          <p:cNvSpPr txBox="1"/>
          <p:nvPr/>
        </p:nvSpPr>
        <p:spPr>
          <a:xfrm>
            <a:off x="5413248" y="2578608"/>
            <a:ext cx="502920" cy="365760"/>
          </a:xfrm>
          <a:prstGeom prst="rect">
            <a:avLst/>
          </a:prstGeom>
          <a:noFill/>
        </p:spPr>
        <p:txBody>
          <a:bodyPr wrap="square">
            <a:spAutoFit/>
          </a:bodyPr>
          <a:lstStyle/>
          <a:p>
            <a:pPr algn="ctr"/>
            <a:r>
              <a:rPr sz="2200" b="1" i="0">
                <a:solidFill>
                  <a:srgbClr val="90E0EF"/>
                </a:solidFill>
              </a:rPr>
              <a:t>→</a:t>
            </a:r>
          </a:p>
        </p:txBody>
      </p:sp>
      <p:sp>
        <p:nvSpPr>
          <p:cNvPr id="19" name="Rectangle 18"/>
          <p:cNvSpPr/>
          <p:nvPr/>
        </p:nvSpPr>
        <p:spPr>
          <a:xfrm>
            <a:off x="5532120" y="2103120"/>
            <a:ext cx="1554480" cy="1280160"/>
          </a:xfrm>
          <a:prstGeom prst="rect">
            <a:avLst/>
          </a:prstGeom>
          <a:solidFill>
            <a:srgbClr val="1626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5532120" y="2103120"/>
            <a:ext cx="1554480" cy="64008"/>
          </a:xfrm>
          <a:prstGeom prst="rect">
            <a:avLst/>
          </a:prstGeom>
          <a:solidFill>
            <a:srgbClr val="FFD1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577840" y="2194560"/>
            <a:ext cx="1463040" cy="1097280"/>
          </a:xfrm>
          <a:prstGeom prst="rect">
            <a:avLst/>
          </a:prstGeom>
          <a:noFill/>
        </p:spPr>
        <p:txBody>
          <a:bodyPr wrap="square">
            <a:spAutoFit/>
          </a:bodyPr>
          <a:lstStyle/>
          <a:p>
            <a:pPr algn="ctr"/>
            <a:r>
              <a:rPr sz="1200" b="1" i="0">
                <a:solidFill>
                  <a:srgbClr val="FFD166"/>
                </a:solidFill>
              </a:rPr>
              <a:t>Optimiser
Sequences Pallets</a:t>
            </a:r>
          </a:p>
        </p:txBody>
      </p:sp>
      <p:sp>
        <p:nvSpPr>
          <p:cNvPr id="22" name="TextBox 21"/>
          <p:cNvSpPr txBox="1"/>
          <p:nvPr/>
        </p:nvSpPr>
        <p:spPr>
          <a:xfrm>
            <a:off x="7104888" y="2578608"/>
            <a:ext cx="502920" cy="365760"/>
          </a:xfrm>
          <a:prstGeom prst="rect">
            <a:avLst/>
          </a:prstGeom>
          <a:noFill/>
        </p:spPr>
        <p:txBody>
          <a:bodyPr wrap="square">
            <a:spAutoFit/>
          </a:bodyPr>
          <a:lstStyle/>
          <a:p>
            <a:pPr algn="ctr"/>
            <a:r>
              <a:rPr sz="2200" b="1" i="0">
                <a:solidFill>
                  <a:srgbClr val="90E0EF"/>
                </a:solidFill>
              </a:rPr>
              <a:t>→</a:t>
            </a:r>
          </a:p>
        </p:txBody>
      </p:sp>
      <p:sp>
        <p:nvSpPr>
          <p:cNvPr id="23" name="Rectangle 22"/>
          <p:cNvSpPr/>
          <p:nvPr/>
        </p:nvSpPr>
        <p:spPr>
          <a:xfrm>
            <a:off x="7223760" y="2103120"/>
            <a:ext cx="1554480" cy="1280160"/>
          </a:xfrm>
          <a:prstGeom prst="rect">
            <a:avLst/>
          </a:prstGeom>
          <a:solidFill>
            <a:srgbClr val="1626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7223760" y="2103120"/>
            <a:ext cx="1554480" cy="64008"/>
          </a:xfrm>
          <a:prstGeom prst="rect">
            <a:avLst/>
          </a:prstGeom>
          <a:solidFill>
            <a:srgbClr val="06D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269480" y="2194560"/>
            <a:ext cx="1463040" cy="1097280"/>
          </a:xfrm>
          <a:prstGeom prst="rect">
            <a:avLst/>
          </a:prstGeom>
          <a:noFill/>
        </p:spPr>
        <p:txBody>
          <a:bodyPr wrap="square">
            <a:spAutoFit/>
          </a:bodyPr>
          <a:lstStyle/>
          <a:p>
            <a:pPr algn="ctr"/>
            <a:r>
              <a:rPr sz="1200" b="1" i="0">
                <a:solidFill>
                  <a:srgbClr val="06D6A0"/>
                </a:solidFill>
              </a:rPr>
              <a:t>Tasks Dispatched
to Workers</a:t>
            </a:r>
          </a:p>
        </p:txBody>
      </p:sp>
      <p:sp>
        <p:nvSpPr>
          <p:cNvPr id="26" name="TextBox 25"/>
          <p:cNvSpPr txBox="1"/>
          <p:nvPr/>
        </p:nvSpPr>
        <p:spPr>
          <a:xfrm>
            <a:off x="8796528" y="2578608"/>
            <a:ext cx="502920" cy="365760"/>
          </a:xfrm>
          <a:prstGeom prst="rect">
            <a:avLst/>
          </a:prstGeom>
          <a:noFill/>
        </p:spPr>
        <p:txBody>
          <a:bodyPr wrap="square">
            <a:spAutoFit/>
          </a:bodyPr>
          <a:lstStyle/>
          <a:p>
            <a:pPr algn="ctr"/>
            <a:r>
              <a:rPr sz="2200" b="1" i="0">
                <a:solidFill>
                  <a:srgbClr val="90E0EF"/>
                </a:solidFill>
              </a:rPr>
              <a:t>→</a:t>
            </a:r>
          </a:p>
        </p:txBody>
      </p:sp>
      <p:sp>
        <p:nvSpPr>
          <p:cNvPr id="27" name="Rectangle 26"/>
          <p:cNvSpPr/>
          <p:nvPr/>
        </p:nvSpPr>
        <p:spPr>
          <a:xfrm>
            <a:off x="8915400" y="2103120"/>
            <a:ext cx="1554480" cy="1280160"/>
          </a:xfrm>
          <a:prstGeom prst="rect">
            <a:avLst/>
          </a:prstGeom>
          <a:solidFill>
            <a:srgbClr val="1626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8915400" y="2103120"/>
            <a:ext cx="1554480" cy="64008"/>
          </a:xfrm>
          <a:prstGeom prst="rect">
            <a:avLst/>
          </a:prstGeom>
          <a:solidFill>
            <a:srgbClr val="06D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961120" y="2194560"/>
            <a:ext cx="1463040" cy="1097280"/>
          </a:xfrm>
          <a:prstGeom prst="rect">
            <a:avLst/>
          </a:prstGeom>
          <a:noFill/>
        </p:spPr>
        <p:txBody>
          <a:bodyPr wrap="square">
            <a:spAutoFit/>
          </a:bodyPr>
          <a:lstStyle/>
          <a:p>
            <a:pPr algn="ctr"/>
            <a:r>
              <a:rPr sz="1200" b="1" i="0">
                <a:solidFill>
                  <a:srgbClr val="06D6A0"/>
                </a:solidFill>
              </a:rPr>
              <a:t>Worker Moves
Pallet to Dock</a:t>
            </a:r>
          </a:p>
        </p:txBody>
      </p:sp>
      <p:sp>
        <p:nvSpPr>
          <p:cNvPr id="30" name="TextBox 29"/>
          <p:cNvSpPr txBox="1"/>
          <p:nvPr/>
        </p:nvSpPr>
        <p:spPr>
          <a:xfrm>
            <a:off x="10488168" y="2578608"/>
            <a:ext cx="502920" cy="365760"/>
          </a:xfrm>
          <a:prstGeom prst="rect">
            <a:avLst/>
          </a:prstGeom>
          <a:noFill/>
        </p:spPr>
        <p:txBody>
          <a:bodyPr wrap="square">
            <a:spAutoFit/>
          </a:bodyPr>
          <a:lstStyle/>
          <a:p>
            <a:pPr algn="ctr"/>
            <a:r>
              <a:rPr sz="2200" b="1" i="0">
                <a:solidFill>
                  <a:srgbClr val="90E0EF"/>
                </a:solidFill>
              </a:rPr>
              <a:t>→</a:t>
            </a:r>
          </a:p>
        </p:txBody>
      </p:sp>
      <p:sp>
        <p:nvSpPr>
          <p:cNvPr id="31" name="Rectangle 30"/>
          <p:cNvSpPr/>
          <p:nvPr/>
        </p:nvSpPr>
        <p:spPr>
          <a:xfrm>
            <a:off x="10607040" y="2103120"/>
            <a:ext cx="1554480" cy="1280160"/>
          </a:xfrm>
          <a:prstGeom prst="rect">
            <a:avLst/>
          </a:prstGeom>
          <a:solidFill>
            <a:srgbClr val="1626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10607040" y="2103120"/>
            <a:ext cx="1554480" cy="64008"/>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0652760" y="2194560"/>
            <a:ext cx="1463040" cy="1097280"/>
          </a:xfrm>
          <a:prstGeom prst="rect">
            <a:avLst/>
          </a:prstGeom>
          <a:noFill/>
        </p:spPr>
        <p:txBody>
          <a:bodyPr wrap="square">
            <a:spAutoFit/>
          </a:bodyPr>
          <a:lstStyle/>
          <a:p>
            <a:pPr algn="ctr"/>
            <a:r>
              <a:rPr sz="1200" b="1" i="0">
                <a:solidFill>
                  <a:srgbClr val="FF6B6B"/>
                </a:solidFill>
              </a:rPr>
              <a:t>Truck Departs
with Manifest</a:t>
            </a:r>
          </a:p>
        </p:txBody>
      </p:sp>
      <p:sp>
        <p:nvSpPr>
          <p:cNvPr id="34" name="Rectangle 33"/>
          <p:cNvSpPr/>
          <p:nvPr/>
        </p:nvSpPr>
        <p:spPr>
          <a:xfrm>
            <a:off x="457200" y="3520440"/>
            <a:ext cx="1554480" cy="1371600"/>
          </a:xfrm>
          <a:prstGeom prst="rect">
            <a:avLst/>
          </a:prstGeom>
          <a:solidFill>
            <a:srgbClr val="0C1E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02920" y="3566160"/>
            <a:ext cx="1463040" cy="1280160"/>
          </a:xfrm>
          <a:prstGeom prst="rect">
            <a:avLst/>
          </a:prstGeom>
          <a:noFill/>
        </p:spPr>
        <p:txBody>
          <a:bodyPr wrap="square">
            <a:spAutoFit/>
          </a:bodyPr>
          <a:lstStyle/>
          <a:p>
            <a:pPr algn="ctr"/>
            <a:r>
              <a:rPr sz="1000" b="0" i="0">
                <a:solidFill>
                  <a:srgbClr val="CCD6E0"/>
                </a:solidFill>
              </a:rPr>
              <a:t>TN-xx truck
number logged</a:t>
            </a:r>
          </a:p>
        </p:txBody>
      </p:sp>
      <p:sp>
        <p:nvSpPr>
          <p:cNvPr id="36" name="Rectangle 35"/>
          <p:cNvSpPr/>
          <p:nvPr/>
        </p:nvSpPr>
        <p:spPr>
          <a:xfrm>
            <a:off x="2148840" y="3520440"/>
            <a:ext cx="1554480" cy="1371600"/>
          </a:xfrm>
          <a:prstGeom prst="rect">
            <a:avLst/>
          </a:prstGeom>
          <a:solidFill>
            <a:srgbClr val="0C1E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194560" y="3566160"/>
            <a:ext cx="1463040" cy="1280160"/>
          </a:xfrm>
          <a:prstGeom prst="rect">
            <a:avLst/>
          </a:prstGeom>
          <a:noFill/>
        </p:spPr>
        <p:txBody>
          <a:bodyPr wrap="square">
            <a:spAutoFit/>
          </a:bodyPr>
          <a:lstStyle/>
          <a:p>
            <a:pPr algn="ctr"/>
            <a:r>
              <a:rPr sz="1000" b="0" i="0">
                <a:solidFill>
                  <a:srgbClr val="CCD6E0"/>
                </a:solidFill>
              </a:rPr>
              <a:t>QR decoded →
pallet created</a:t>
            </a:r>
          </a:p>
        </p:txBody>
      </p:sp>
      <p:sp>
        <p:nvSpPr>
          <p:cNvPr id="38" name="Rectangle 37"/>
          <p:cNvSpPr/>
          <p:nvPr/>
        </p:nvSpPr>
        <p:spPr>
          <a:xfrm>
            <a:off x="3840480" y="3520440"/>
            <a:ext cx="1554480" cy="1371600"/>
          </a:xfrm>
          <a:prstGeom prst="rect">
            <a:avLst/>
          </a:prstGeom>
          <a:solidFill>
            <a:srgbClr val="0C1E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3886200" y="3566160"/>
            <a:ext cx="1463040" cy="1280160"/>
          </a:xfrm>
          <a:prstGeom prst="rect">
            <a:avLst/>
          </a:prstGeom>
          <a:noFill/>
        </p:spPr>
        <p:txBody>
          <a:bodyPr wrap="square">
            <a:spAutoFit/>
          </a:bodyPr>
          <a:lstStyle/>
          <a:p>
            <a:pPr algn="ctr"/>
            <a:r>
              <a:rPr sz="1000" b="0" i="0">
                <a:solidFill>
                  <a:srgbClr val="CCD6E0"/>
                </a:solidFill>
              </a:rPr>
              <a:t>Destination
matched → assign</a:t>
            </a:r>
          </a:p>
        </p:txBody>
      </p:sp>
      <p:sp>
        <p:nvSpPr>
          <p:cNvPr id="40" name="Rectangle 39"/>
          <p:cNvSpPr/>
          <p:nvPr/>
        </p:nvSpPr>
        <p:spPr>
          <a:xfrm>
            <a:off x="5532120" y="3520440"/>
            <a:ext cx="1554480" cy="1371600"/>
          </a:xfrm>
          <a:prstGeom prst="rect">
            <a:avLst/>
          </a:prstGeom>
          <a:solidFill>
            <a:srgbClr val="0C1E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5577840" y="3566160"/>
            <a:ext cx="1463040" cy="1280160"/>
          </a:xfrm>
          <a:prstGeom prst="rect">
            <a:avLst/>
          </a:prstGeom>
          <a:noFill/>
        </p:spPr>
        <p:txBody>
          <a:bodyPr wrap="square">
            <a:spAutoFit/>
          </a:bodyPr>
          <a:lstStyle/>
          <a:p>
            <a:pPr algn="ctr"/>
            <a:r>
              <a:rPr sz="1000" b="0" i="0">
                <a:solidFill>
                  <a:srgbClr val="CCD6E0"/>
                </a:solidFill>
              </a:rPr>
              <a:t>Score: priority
+ deadline
+ distance</a:t>
            </a:r>
          </a:p>
        </p:txBody>
      </p:sp>
      <p:sp>
        <p:nvSpPr>
          <p:cNvPr id="42" name="Rectangle 41"/>
          <p:cNvSpPr/>
          <p:nvPr/>
        </p:nvSpPr>
        <p:spPr>
          <a:xfrm>
            <a:off x="7223760" y="3520440"/>
            <a:ext cx="1554480" cy="1371600"/>
          </a:xfrm>
          <a:prstGeom prst="rect">
            <a:avLst/>
          </a:prstGeom>
          <a:solidFill>
            <a:srgbClr val="0C1E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7269480" y="3566160"/>
            <a:ext cx="1463040" cy="1280160"/>
          </a:xfrm>
          <a:prstGeom prst="rect">
            <a:avLst/>
          </a:prstGeom>
          <a:noFill/>
        </p:spPr>
        <p:txBody>
          <a:bodyPr wrap="square">
            <a:spAutoFit/>
          </a:bodyPr>
          <a:lstStyle/>
          <a:p>
            <a:pPr algn="ctr"/>
            <a:r>
              <a:rPr sz="1000" b="0" i="0">
                <a:solidFill>
                  <a:srgbClr val="CCD6E0"/>
                </a:solidFill>
              </a:rPr>
              <a:t>SSE push →
worker sees task</a:t>
            </a:r>
          </a:p>
        </p:txBody>
      </p:sp>
      <p:sp>
        <p:nvSpPr>
          <p:cNvPr id="44" name="Rectangle 43"/>
          <p:cNvSpPr/>
          <p:nvPr/>
        </p:nvSpPr>
        <p:spPr>
          <a:xfrm>
            <a:off x="8915400" y="3520440"/>
            <a:ext cx="1554480" cy="1371600"/>
          </a:xfrm>
          <a:prstGeom prst="rect">
            <a:avLst/>
          </a:prstGeom>
          <a:solidFill>
            <a:srgbClr val="0C1E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8961120" y="3566160"/>
            <a:ext cx="1463040" cy="1280160"/>
          </a:xfrm>
          <a:prstGeom prst="rect">
            <a:avLst/>
          </a:prstGeom>
          <a:noFill/>
        </p:spPr>
        <p:txBody>
          <a:bodyPr wrap="square">
            <a:spAutoFit/>
          </a:bodyPr>
          <a:lstStyle/>
          <a:p>
            <a:pPr algn="ctr"/>
            <a:r>
              <a:rPr sz="1000" b="0" i="0">
                <a:solidFill>
                  <a:srgbClr val="CCD6E0"/>
                </a:solidFill>
              </a:rPr>
              <a:t>Scan dest QR
or press Complete</a:t>
            </a:r>
          </a:p>
        </p:txBody>
      </p:sp>
      <p:sp>
        <p:nvSpPr>
          <p:cNvPr id="46" name="Rectangle 45"/>
          <p:cNvSpPr/>
          <p:nvPr/>
        </p:nvSpPr>
        <p:spPr>
          <a:xfrm>
            <a:off x="10607040" y="3520440"/>
            <a:ext cx="1554480" cy="1371600"/>
          </a:xfrm>
          <a:prstGeom prst="rect">
            <a:avLst/>
          </a:prstGeom>
          <a:solidFill>
            <a:srgbClr val="0C1E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10652760" y="3566160"/>
            <a:ext cx="1463040" cy="1280160"/>
          </a:xfrm>
          <a:prstGeom prst="rect">
            <a:avLst/>
          </a:prstGeom>
          <a:noFill/>
        </p:spPr>
        <p:txBody>
          <a:bodyPr wrap="square">
            <a:spAutoFit/>
          </a:bodyPr>
          <a:lstStyle/>
          <a:p>
            <a:pPr algn="ctr"/>
            <a:r>
              <a:rPr sz="1000" b="0" i="0">
                <a:solidFill>
                  <a:srgbClr val="CCD6E0"/>
                </a:solidFill>
              </a:rPr>
              <a:t>JSONB manifest
stored; status=
departed</a:t>
            </a:r>
          </a:p>
        </p:txBody>
      </p:sp>
      <p:sp>
        <p:nvSpPr>
          <p:cNvPr id="50" name="Rectangle 49"/>
          <p:cNvSpPr/>
          <p:nvPr/>
        </p:nvSpPr>
        <p:spPr>
          <a:xfrm>
            <a:off x="274320" y="5943600"/>
            <a:ext cx="11640312" cy="685800"/>
          </a:xfrm>
          <a:prstGeom prst="rect">
            <a:avLst/>
          </a:prstGeom>
          <a:solidFill>
            <a:srgbClr val="0A14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457200" y="5989320"/>
            <a:ext cx="11430000" cy="594360"/>
          </a:xfrm>
          <a:prstGeom prst="rect">
            <a:avLst/>
          </a:prstGeom>
          <a:noFill/>
        </p:spPr>
        <p:txBody>
          <a:bodyPr wrap="square">
            <a:spAutoFit/>
          </a:bodyPr>
          <a:lstStyle/>
          <a:p>
            <a:pPr algn="ctr"/>
            <a:r>
              <a:rPr sz="1100" b="0" i="1">
                <a:solidFill>
                  <a:srgbClr val="00B4D8"/>
                </a:solidFill>
              </a:rPr>
              <a:t>Optimiser Score  =  Priority (×5.0)  +  Deadline Urgency  +  Aging Bonus (max 4h)  −  Distance (×0.4)  −  Congestion (×0.5)  +  Grouping Bonus (×0.3)</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51560"/>
          </a:xfrm>
          <a:prstGeom prst="rect">
            <a:avLst/>
          </a:prstGeom>
          <a:solidFill>
            <a:srgbClr val="1626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24128"/>
            <a:ext cx="12188952" cy="457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73152"/>
            <a:ext cx="11430000" cy="640080"/>
          </a:xfrm>
          <a:prstGeom prst="rect">
            <a:avLst/>
          </a:prstGeom>
          <a:noFill/>
        </p:spPr>
        <p:txBody>
          <a:bodyPr wrap="square">
            <a:spAutoFit/>
          </a:bodyPr>
          <a:lstStyle/>
          <a:p>
            <a:pPr algn="l"/>
            <a:r>
              <a:rPr sz="2800" b="1" i="0">
                <a:solidFill>
                  <a:srgbClr val="00B4D8"/>
                </a:solidFill>
              </a:rPr>
              <a:t>Flow Diagram — Storage &amp; Retrieval Workflow</a:t>
            </a:r>
          </a:p>
        </p:txBody>
      </p:sp>
      <p:sp>
        <p:nvSpPr>
          <p:cNvPr id="6" name="TextBox 5"/>
          <p:cNvSpPr txBox="1"/>
          <p:nvPr/>
        </p:nvSpPr>
        <p:spPr>
          <a:xfrm>
            <a:off x="365760" y="658368"/>
            <a:ext cx="11430000" cy="347472"/>
          </a:xfrm>
          <a:prstGeom prst="rect">
            <a:avLst/>
          </a:prstGeom>
          <a:noFill/>
        </p:spPr>
        <p:txBody>
          <a:bodyPr wrap="square">
            <a:spAutoFit/>
          </a:bodyPr>
          <a:lstStyle/>
          <a:p>
            <a:pPr algn="l"/>
            <a:r>
              <a:rPr sz="1300" b="0" i="1">
                <a:solidFill>
                  <a:srgbClr val="A8D8EA"/>
                </a:solidFill>
              </a:rPr>
              <a:t>Pallets with no immediate outbound truck are stored in racks and retrieved later</a:t>
            </a:r>
          </a:p>
        </p:txBody>
      </p:sp>
      <p:sp>
        <p:nvSpPr>
          <p:cNvPr id="7" name="Rectangle 6"/>
          <p:cNvSpPr/>
          <p:nvPr/>
        </p:nvSpPr>
        <p:spPr>
          <a:xfrm>
            <a:off x="457200" y="2103120"/>
            <a:ext cx="1554480" cy="1280160"/>
          </a:xfrm>
          <a:prstGeom prst="rect">
            <a:avLst/>
          </a:prstGeom>
          <a:solidFill>
            <a:srgbClr val="1626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57200" y="2103120"/>
            <a:ext cx="1554480" cy="64008"/>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2194560"/>
            <a:ext cx="1463040" cy="1097280"/>
          </a:xfrm>
          <a:prstGeom prst="rect">
            <a:avLst/>
          </a:prstGeom>
          <a:noFill/>
        </p:spPr>
        <p:txBody>
          <a:bodyPr wrap="square">
            <a:spAutoFit/>
          </a:bodyPr>
          <a:lstStyle/>
          <a:p>
            <a:pPr algn="ctr"/>
            <a:r>
              <a:rPr sz="1200" b="1" i="0">
                <a:solidFill>
                  <a:srgbClr val="FF6B6B"/>
                </a:solidFill>
              </a:rPr>
              <a:t>No Truck
Available</a:t>
            </a:r>
          </a:p>
        </p:txBody>
      </p:sp>
      <p:sp>
        <p:nvSpPr>
          <p:cNvPr id="10" name="TextBox 9"/>
          <p:cNvSpPr txBox="1"/>
          <p:nvPr/>
        </p:nvSpPr>
        <p:spPr>
          <a:xfrm>
            <a:off x="2029967" y="2578608"/>
            <a:ext cx="502920" cy="365760"/>
          </a:xfrm>
          <a:prstGeom prst="rect">
            <a:avLst/>
          </a:prstGeom>
          <a:noFill/>
        </p:spPr>
        <p:txBody>
          <a:bodyPr wrap="square">
            <a:spAutoFit/>
          </a:bodyPr>
          <a:lstStyle/>
          <a:p>
            <a:pPr algn="ctr"/>
            <a:r>
              <a:rPr sz="2200" b="1" i="0">
                <a:solidFill>
                  <a:srgbClr val="90E0EF"/>
                </a:solidFill>
              </a:rPr>
              <a:t>→</a:t>
            </a:r>
          </a:p>
        </p:txBody>
      </p:sp>
      <p:sp>
        <p:nvSpPr>
          <p:cNvPr id="11" name="Rectangle 10"/>
          <p:cNvSpPr/>
          <p:nvPr/>
        </p:nvSpPr>
        <p:spPr>
          <a:xfrm>
            <a:off x="2148840" y="2103120"/>
            <a:ext cx="1554480" cy="1280160"/>
          </a:xfrm>
          <a:prstGeom prst="rect">
            <a:avLst/>
          </a:prstGeom>
          <a:solidFill>
            <a:srgbClr val="1626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2148840" y="2103120"/>
            <a:ext cx="1554480" cy="6400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194560" y="2194560"/>
            <a:ext cx="1463040" cy="1097280"/>
          </a:xfrm>
          <a:prstGeom prst="rect">
            <a:avLst/>
          </a:prstGeom>
          <a:noFill/>
        </p:spPr>
        <p:txBody>
          <a:bodyPr wrap="square">
            <a:spAutoFit/>
          </a:bodyPr>
          <a:lstStyle/>
          <a:p>
            <a:pPr algn="ctr"/>
            <a:r>
              <a:rPr sz="1200" b="1" i="0">
                <a:solidFill>
                  <a:srgbClr val="00B4D8"/>
                </a:solidFill>
              </a:rPr>
              <a:t>Rack Assignment
Service</a:t>
            </a:r>
          </a:p>
        </p:txBody>
      </p:sp>
      <p:sp>
        <p:nvSpPr>
          <p:cNvPr id="14" name="TextBox 13"/>
          <p:cNvSpPr txBox="1"/>
          <p:nvPr/>
        </p:nvSpPr>
        <p:spPr>
          <a:xfrm>
            <a:off x="3721608" y="2578608"/>
            <a:ext cx="502920" cy="365760"/>
          </a:xfrm>
          <a:prstGeom prst="rect">
            <a:avLst/>
          </a:prstGeom>
          <a:noFill/>
        </p:spPr>
        <p:txBody>
          <a:bodyPr wrap="square">
            <a:spAutoFit/>
          </a:bodyPr>
          <a:lstStyle/>
          <a:p>
            <a:pPr algn="ctr"/>
            <a:r>
              <a:rPr sz="2200" b="1" i="0">
                <a:solidFill>
                  <a:srgbClr val="90E0EF"/>
                </a:solidFill>
              </a:rPr>
              <a:t>→</a:t>
            </a:r>
          </a:p>
        </p:txBody>
      </p:sp>
      <p:sp>
        <p:nvSpPr>
          <p:cNvPr id="15" name="Rectangle 14"/>
          <p:cNvSpPr/>
          <p:nvPr/>
        </p:nvSpPr>
        <p:spPr>
          <a:xfrm>
            <a:off x="3840480" y="2103120"/>
            <a:ext cx="1554480" cy="1280160"/>
          </a:xfrm>
          <a:prstGeom prst="rect">
            <a:avLst/>
          </a:prstGeom>
          <a:solidFill>
            <a:srgbClr val="1626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3840480" y="2103120"/>
            <a:ext cx="1554480" cy="6400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886200" y="2194560"/>
            <a:ext cx="1463040" cy="1097280"/>
          </a:xfrm>
          <a:prstGeom prst="rect">
            <a:avLst/>
          </a:prstGeom>
          <a:noFill/>
        </p:spPr>
        <p:txBody>
          <a:bodyPr wrap="square">
            <a:spAutoFit/>
          </a:bodyPr>
          <a:lstStyle/>
          <a:p>
            <a:pPr algn="ctr"/>
            <a:r>
              <a:rPr sz="1200" b="1" i="0">
                <a:solidFill>
                  <a:srgbClr val="00B4D8"/>
                </a:solidFill>
              </a:rPr>
              <a:t>Storage Task
Created</a:t>
            </a:r>
          </a:p>
        </p:txBody>
      </p:sp>
      <p:sp>
        <p:nvSpPr>
          <p:cNvPr id="18" name="TextBox 17"/>
          <p:cNvSpPr txBox="1"/>
          <p:nvPr/>
        </p:nvSpPr>
        <p:spPr>
          <a:xfrm>
            <a:off x="5413248" y="2578608"/>
            <a:ext cx="502920" cy="365760"/>
          </a:xfrm>
          <a:prstGeom prst="rect">
            <a:avLst/>
          </a:prstGeom>
          <a:noFill/>
        </p:spPr>
        <p:txBody>
          <a:bodyPr wrap="square">
            <a:spAutoFit/>
          </a:bodyPr>
          <a:lstStyle/>
          <a:p>
            <a:pPr algn="ctr"/>
            <a:r>
              <a:rPr sz="2200" b="1" i="0">
                <a:solidFill>
                  <a:srgbClr val="90E0EF"/>
                </a:solidFill>
              </a:rPr>
              <a:t>→</a:t>
            </a:r>
          </a:p>
        </p:txBody>
      </p:sp>
      <p:sp>
        <p:nvSpPr>
          <p:cNvPr id="19" name="Rectangle 18"/>
          <p:cNvSpPr/>
          <p:nvPr/>
        </p:nvSpPr>
        <p:spPr>
          <a:xfrm>
            <a:off x="5532120" y="2103120"/>
            <a:ext cx="1554480" cy="1280160"/>
          </a:xfrm>
          <a:prstGeom prst="rect">
            <a:avLst/>
          </a:prstGeom>
          <a:solidFill>
            <a:srgbClr val="1626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5532120" y="2103120"/>
            <a:ext cx="1554480" cy="64008"/>
          </a:xfrm>
          <a:prstGeom prst="rect">
            <a:avLst/>
          </a:prstGeom>
          <a:solidFill>
            <a:srgbClr val="FFD1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577840" y="2194560"/>
            <a:ext cx="1463040" cy="1097280"/>
          </a:xfrm>
          <a:prstGeom prst="rect">
            <a:avLst/>
          </a:prstGeom>
          <a:noFill/>
        </p:spPr>
        <p:txBody>
          <a:bodyPr wrap="square">
            <a:spAutoFit/>
          </a:bodyPr>
          <a:lstStyle/>
          <a:p>
            <a:pPr algn="ctr"/>
            <a:r>
              <a:rPr sz="1200" b="1" i="0">
                <a:solidFill>
                  <a:srgbClr val="FFD166"/>
                </a:solidFill>
              </a:rPr>
              <a:t>Worker Moves
to Rack</a:t>
            </a:r>
          </a:p>
        </p:txBody>
      </p:sp>
      <p:sp>
        <p:nvSpPr>
          <p:cNvPr id="22" name="TextBox 21"/>
          <p:cNvSpPr txBox="1"/>
          <p:nvPr/>
        </p:nvSpPr>
        <p:spPr>
          <a:xfrm>
            <a:off x="7104888" y="2578608"/>
            <a:ext cx="502920" cy="365760"/>
          </a:xfrm>
          <a:prstGeom prst="rect">
            <a:avLst/>
          </a:prstGeom>
          <a:noFill/>
        </p:spPr>
        <p:txBody>
          <a:bodyPr wrap="square">
            <a:spAutoFit/>
          </a:bodyPr>
          <a:lstStyle/>
          <a:p>
            <a:pPr algn="ctr"/>
            <a:r>
              <a:rPr sz="2200" b="1" i="0">
                <a:solidFill>
                  <a:srgbClr val="90E0EF"/>
                </a:solidFill>
              </a:rPr>
              <a:t>→</a:t>
            </a:r>
          </a:p>
        </p:txBody>
      </p:sp>
      <p:sp>
        <p:nvSpPr>
          <p:cNvPr id="23" name="Rectangle 22"/>
          <p:cNvSpPr/>
          <p:nvPr/>
        </p:nvSpPr>
        <p:spPr>
          <a:xfrm>
            <a:off x="7223760" y="2103120"/>
            <a:ext cx="1554480" cy="1280160"/>
          </a:xfrm>
          <a:prstGeom prst="rect">
            <a:avLst/>
          </a:prstGeom>
          <a:solidFill>
            <a:srgbClr val="1626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7223760" y="2103120"/>
            <a:ext cx="1554480" cy="64008"/>
          </a:xfrm>
          <a:prstGeom prst="rect">
            <a:avLst/>
          </a:prstGeom>
          <a:solidFill>
            <a:srgbClr val="FFD1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269480" y="2194560"/>
            <a:ext cx="1463040" cy="1097280"/>
          </a:xfrm>
          <a:prstGeom prst="rect">
            <a:avLst/>
          </a:prstGeom>
          <a:noFill/>
        </p:spPr>
        <p:txBody>
          <a:bodyPr wrap="square">
            <a:spAutoFit/>
          </a:bodyPr>
          <a:lstStyle/>
          <a:p>
            <a:pPr algn="ctr"/>
            <a:r>
              <a:rPr sz="1200" b="1" i="0">
                <a:solidFill>
                  <a:srgbClr val="FFD166"/>
                </a:solidFill>
              </a:rPr>
              <a:t>Manager
Retrieves</a:t>
            </a:r>
          </a:p>
        </p:txBody>
      </p:sp>
      <p:sp>
        <p:nvSpPr>
          <p:cNvPr id="26" name="TextBox 25"/>
          <p:cNvSpPr txBox="1"/>
          <p:nvPr/>
        </p:nvSpPr>
        <p:spPr>
          <a:xfrm>
            <a:off x="8796528" y="2578608"/>
            <a:ext cx="502920" cy="365760"/>
          </a:xfrm>
          <a:prstGeom prst="rect">
            <a:avLst/>
          </a:prstGeom>
          <a:noFill/>
        </p:spPr>
        <p:txBody>
          <a:bodyPr wrap="square">
            <a:spAutoFit/>
          </a:bodyPr>
          <a:lstStyle/>
          <a:p>
            <a:pPr algn="ctr"/>
            <a:r>
              <a:rPr sz="2200" b="1" i="0">
                <a:solidFill>
                  <a:srgbClr val="90E0EF"/>
                </a:solidFill>
              </a:rPr>
              <a:t>→</a:t>
            </a:r>
          </a:p>
        </p:txBody>
      </p:sp>
      <p:sp>
        <p:nvSpPr>
          <p:cNvPr id="27" name="Rectangle 26"/>
          <p:cNvSpPr/>
          <p:nvPr/>
        </p:nvSpPr>
        <p:spPr>
          <a:xfrm>
            <a:off x="8915400" y="2103120"/>
            <a:ext cx="1554480" cy="1280160"/>
          </a:xfrm>
          <a:prstGeom prst="rect">
            <a:avLst/>
          </a:prstGeom>
          <a:solidFill>
            <a:srgbClr val="1626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8915400" y="2103120"/>
            <a:ext cx="1554480" cy="64008"/>
          </a:xfrm>
          <a:prstGeom prst="rect">
            <a:avLst/>
          </a:prstGeom>
          <a:solidFill>
            <a:srgbClr val="06D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961120" y="2194560"/>
            <a:ext cx="1463040" cy="1097280"/>
          </a:xfrm>
          <a:prstGeom prst="rect">
            <a:avLst/>
          </a:prstGeom>
          <a:noFill/>
        </p:spPr>
        <p:txBody>
          <a:bodyPr wrap="square">
            <a:spAutoFit/>
          </a:bodyPr>
          <a:lstStyle/>
          <a:p>
            <a:pPr algn="ctr"/>
            <a:r>
              <a:rPr sz="1200" b="1" i="0">
                <a:solidFill>
                  <a:srgbClr val="06D6A0"/>
                </a:solidFill>
              </a:rPr>
              <a:t>Retrieval Task
Created</a:t>
            </a:r>
          </a:p>
        </p:txBody>
      </p:sp>
      <p:sp>
        <p:nvSpPr>
          <p:cNvPr id="30" name="TextBox 29"/>
          <p:cNvSpPr txBox="1"/>
          <p:nvPr/>
        </p:nvSpPr>
        <p:spPr>
          <a:xfrm>
            <a:off x="10488168" y="2578608"/>
            <a:ext cx="502920" cy="365760"/>
          </a:xfrm>
          <a:prstGeom prst="rect">
            <a:avLst/>
          </a:prstGeom>
          <a:noFill/>
        </p:spPr>
        <p:txBody>
          <a:bodyPr wrap="square">
            <a:spAutoFit/>
          </a:bodyPr>
          <a:lstStyle/>
          <a:p>
            <a:pPr algn="ctr"/>
            <a:r>
              <a:rPr sz="2200" b="1" i="0">
                <a:solidFill>
                  <a:srgbClr val="90E0EF"/>
                </a:solidFill>
              </a:rPr>
              <a:t>→</a:t>
            </a:r>
          </a:p>
        </p:txBody>
      </p:sp>
      <p:sp>
        <p:nvSpPr>
          <p:cNvPr id="31" name="Rectangle 30"/>
          <p:cNvSpPr/>
          <p:nvPr/>
        </p:nvSpPr>
        <p:spPr>
          <a:xfrm>
            <a:off x="10607040" y="2103120"/>
            <a:ext cx="1554480" cy="1280160"/>
          </a:xfrm>
          <a:prstGeom prst="rect">
            <a:avLst/>
          </a:prstGeom>
          <a:solidFill>
            <a:srgbClr val="1626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10607040" y="2103120"/>
            <a:ext cx="1554480" cy="64008"/>
          </a:xfrm>
          <a:prstGeom prst="rect">
            <a:avLst/>
          </a:prstGeom>
          <a:solidFill>
            <a:srgbClr val="06D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0652760" y="2194560"/>
            <a:ext cx="1463040" cy="1097280"/>
          </a:xfrm>
          <a:prstGeom prst="rect">
            <a:avLst/>
          </a:prstGeom>
          <a:noFill/>
        </p:spPr>
        <p:txBody>
          <a:bodyPr wrap="square">
            <a:spAutoFit/>
          </a:bodyPr>
          <a:lstStyle/>
          <a:p>
            <a:pPr algn="ctr"/>
            <a:r>
              <a:rPr sz="1200" b="1" i="0">
                <a:solidFill>
                  <a:srgbClr val="06D6A0"/>
                </a:solidFill>
              </a:rPr>
              <a:t>Pallet Loaded
to Truck</a:t>
            </a:r>
          </a:p>
        </p:txBody>
      </p:sp>
      <p:sp>
        <p:nvSpPr>
          <p:cNvPr id="34" name="Rectangle 33"/>
          <p:cNvSpPr/>
          <p:nvPr/>
        </p:nvSpPr>
        <p:spPr>
          <a:xfrm>
            <a:off x="457200" y="3520440"/>
            <a:ext cx="1554480" cy="914400"/>
          </a:xfrm>
          <a:prstGeom prst="rect">
            <a:avLst/>
          </a:prstGeom>
          <a:solidFill>
            <a:srgbClr val="0C1E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02920" y="3566160"/>
            <a:ext cx="1463040" cy="822960"/>
          </a:xfrm>
          <a:prstGeom prst="rect">
            <a:avLst/>
          </a:prstGeom>
          <a:noFill/>
        </p:spPr>
        <p:txBody>
          <a:bodyPr wrap="square">
            <a:spAutoFit/>
          </a:bodyPr>
          <a:lstStyle/>
          <a:p>
            <a:pPr algn="ctr"/>
            <a:r>
              <a:rPr sz="1000" b="0" i="0">
                <a:solidFill>
                  <a:srgbClr val="CCD6E0"/>
                </a:solidFill>
              </a:rPr>
              <a:t>Pallet in
pending_storage</a:t>
            </a:r>
          </a:p>
        </p:txBody>
      </p:sp>
      <p:sp>
        <p:nvSpPr>
          <p:cNvPr id="36" name="Rectangle 35"/>
          <p:cNvSpPr/>
          <p:nvPr/>
        </p:nvSpPr>
        <p:spPr>
          <a:xfrm>
            <a:off x="2148840" y="3520440"/>
            <a:ext cx="1554480" cy="914400"/>
          </a:xfrm>
          <a:prstGeom prst="rect">
            <a:avLst/>
          </a:prstGeom>
          <a:solidFill>
            <a:srgbClr val="0C1E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194560" y="3566160"/>
            <a:ext cx="1463040" cy="822960"/>
          </a:xfrm>
          <a:prstGeom prst="rect">
            <a:avLst/>
          </a:prstGeom>
          <a:noFill/>
        </p:spPr>
        <p:txBody>
          <a:bodyPr wrap="square">
            <a:spAutoFit/>
          </a:bodyPr>
          <a:lstStyle/>
          <a:p>
            <a:pPr algn="ctr"/>
            <a:r>
              <a:rPr sz="1000" b="0" i="0">
                <a:solidFill>
                  <a:srgbClr val="CCD6E0"/>
                </a:solidFill>
              </a:rPr>
              <a:t>Nearest rack
with free slot</a:t>
            </a:r>
          </a:p>
        </p:txBody>
      </p:sp>
      <p:sp>
        <p:nvSpPr>
          <p:cNvPr id="38" name="Rectangle 37"/>
          <p:cNvSpPr/>
          <p:nvPr/>
        </p:nvSpPr>
        <p:spPr>
          <a:xfrm>
            <a:off x="3840480" y="3520440"/>
            <a:ext cx="1554480" cy="914400"/>
          </a:xfrm>
          <a:prstGeom prst="rect">
            <a:avLst/>
          </a:prstGeom>
          <a:solidFill>
            <a:srgbClr val="0C1E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3886200" y="3566160"/>
            <a:ext cx="1463040" cy="822960"/>
          </a:xfrm>
          <a:prstGeom prst="rect">
            <a:avLst/>
          </a:prstGeom>
          <a:noFill/>
        </p:spPr>
        <p:txBody>
          <a:bodyPr wrap="square">
            <a:spAutoFit/>
          </a:bodyPr>
          <a:lstStyle/>
          <a:p>
            <a:pPr algn="ctr"/>
            <a:r>
              <a:rPr sz="1000" b="0" i="0">
                <a:solidFill>
                  <a:srgbClr val="CCD6E0"/>
                </a:solidFill>
              </a:rPr>
              <a:t>source=staging
dest=rack</a:t>
            </a:r>
          </a:p>
        </p:txBody>
      </p:sp>
      <p:sp>
        <p:nvSpPr>
          <p:cNvPr id="40" name="Rectangle 39"/>
          <p:cNvSpPr/>
          <p:nvPr/>
        </p:nvSpPr>
        <p:spPr>
          <a:xfrm>
            <a:off x="5532120" y="3520440"/>
            <a:ext cx="1554480" cy="914400"/>
          </a:xfrm>
          <a:prstGeom prst="rect">
            <a:avLst/>
          </a:prstGeom>
          <a:solidFill>
            <a:srgbClr val="0C1E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5577840" y="3566160"/>
            <a:ext cx="1463040" cy="822960"/>
          </a:xfrm>
          <a:prstGeom prst="rect">
            <a:avLst/>
          </a:prstGeom>
          <a:noFill/>
        </p:spPr>
        <p:txBody>
          <a:bodyPr wrap="square">
            <a:spAutoFit/>
          </a:bodyPr>
          <a:lstStyle/>
          <a:p>
            <a:pPr algn="ctr"/>
            <a:r>
              <a:rPr sz="1000" b="0" i="0">
                <a:solidFill>
                  <a:srgbClr val="CCD6E0"/>
                </a:solidFill>
              </a:rPr>
              <a:t>Scans location
QR to confirm</a:t>
            </a:r>
          </a:p>
        </p:txBody>
      </p:sp>
      <p:sp>
        <p:nvSpPr>
          <p:cNvPr id="42" name="Rectangle 41"/>
          <p:cNvSpPr/>
          <p:nvPr/>
        </p:nvSpPr>
        <p:spPr>
          <a:xfrm>
            <a:off x="7223760" y="3520440"/>
            <a:ext cx="1554480" cy="914400"/>
          </a:xfrm>
          <a:prstGeom prst="rect">
            <a:avLst/>
          </a:prstGeom>
          <a:solidFill>
            <a:srgbClr val="0C1E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7269480" y="3566160"/>
            <a:ext cx="1463040" cy="822960"/>
          </a:xfrm>
          <a:prstGeom prst="rect">
            <a:avLst/>
          </a:prstGeom>
          <a:noFill/>
        </p:spPr>
        <p:txBody>
          <a:bodyPr wrap="square">
            <a:spAutoFit/>
          </a:bodyPr>
          <a:lstStyle/>
          <a:p>
            <a:pPr algn="ctr"/>
            <a:r>
              <a:rPr sz="1000" b="0" i="0">
                <a:solidFill>
                  <a:srgbClr val="CCD6E0"/>
                </a:solidFill>
              </a:rPr>
              <a:t>POST /inventory
/:id/retrieve</a:t>
            </a:r>
          </a:p>
        </p:txBody>
      </p:sp>
      <p:sp>
        <p:nvSpPr>
          <p:cNvPr id="44" name="Rectangle 43"/>
          <p:cNvSpPr/>
          <p:nvPr/>
        </p:nvSpPr>
        <p:spPr>
          <a:xfrm>
            <a:off x="8915400" y="3520440"/>
            <a:ext cx="1554480" cy="914400"/>
          </a:xfrm>
          <a:prstGeom prst="rect">
            <a:avLst/>
          </a:prstGeom>
          <a:solidFill>
            <a:srgbClr val="0C1E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8961120" y="3566160"/>
            <a:ext cx="1463040" cy="822960"/>
          </a:xfrm>
          <a:prstGeom prst="rect">
            <a:avLst/>
          </a:prstGeom>
          <a:noFill/>
        </p:spPr>
        <p:txBody>
          <a:bodyPr wrap="square">
            <a:spAutoFit/>
          </a:bodyPr>
          <a:lstStyle/>
          <a:p>
            <a:pPr algn="ctr"/>
            <a:r>
              <a:rPr sz="1000" b="0" i="0">
                <a:solidFill>
                  <a:srgbClr val="CCD6E0"/>
                </a:solidFill>
              </a:rPr>
              <a:t>source=rack
dest=dock</a:t>
            </a:r>
          </a:p>
        </p:txBody>
      </p:sp>
      <p:sp>
        <p:nvSpPr>
          <p:cNvPr id="46" name="Rectangle 45"/>
          <p:cNvSpPr/>
          <p:nvPr/>
        </p:nvSpPr>
        <p:spPr>
          <a:xfrm>
            <a:off x="10607040" y="3520440"/>
            <a:ext cx="1554480" cy="914400"/>
          </a:xfrm>
          <a:prstGeom prst="rect">
            <a:avLst/>
          </a:prstGeom>
          <a:solidFill>
            <a:srgbClr val="0C1E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10652760" y="3566160"/>
            <a:ext cx="1463040" cy="822960"/>
          </a:xfrm>
          <a:prstGeom prst="rect">
            <a:avLst/>
          </a:prstGeom>
          <a:noFill/>
        </p:spPr>
        <p:txBody>
          <a:bodyPr wrap="square">
            <a:spAutoFit/>
          </a:bodyPr>
          <a:lstStyle/>
          <a:p>
            <a:pPr algn="ctr"/>
            <a:r>
              <a:rPr sz="1000" b="0" i="0">
                <a:solidFill>
                  <a:srgbClr val="CCD6E0"/>
                </a:solidFill>
              </a:rPr>
              <a:t>Outbound truck
weight updated</a:t>
            </a:r>
          </a:p>
        </p:txBody>
      </p:sp>
      <p:sp>
        <p:nvSpPr>
          <p:cNvPr id="48" name="Rectangle 47"/>
          <p:cNvSpPr/>
          <p:nvPr/>
        </p:nvSpPr>
        <p:spPr>
          <a:xfrm>
            <a:off x="274320" y="4663440"/>
            <a:ext cx="11640312" cy="1920240"/>
          </a:xfrm>
          <a:prstGeom prst="rect">
            <a:avLst/>
          </a:prstGeom>
          <a:solidFill>
            <a:srgbClr val="0A14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457200" y="4709160"/>
            <a:ext cx="3657600" cy="365760"/>
          </a:xfrm>
          <a:prstGeom prst="rect">
            <a:avLst/>
          </a:prstGeom>
          <a:noFill/>
        </p:spPr>
        <p:txBody>
          <a:bodyPr wrap="square">
            <a:spAutoFit/>
          </a:bodyPr>
          <a:lstStyle/>
          <a:p>
            <a:pPr algn="l"/>
            <a:r>
              <a:rPr sz="1400" b="1" i="0">
                <a:solidFill>
                  <a:srgbClr val="00B4D8"/>
                </a:solidFill>
              </a:rPr>
              <a:t>Pallet Status Lifecycle</a:t>
            </a:r>
          </a:p>
        </p:txBody>
      </p:sp>
      <p:sp>
        <p:nvSpPr>
          <p:cNvPr id="50" name="Rectangle 49"/>
          <p:cNvSpPr/>
          <p:nvPr/>
        </p:nvSpPr>
        <p:spPr>
          <a:xfrm>
            <a:off x="457200" y="5166360"/>
            <a:ext cx="1554480" cy="457200"/>
          </a:xfrm>
          <a:prstGeom prst="rect">
            <a:avLst/>
          </a:prstGeom>
          <a:solidFill>
            <a:srgbClr val="1626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457200" y="5166360"/>
            <a:ext cx="1554480" cy="457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502920" y="5193792"/>
            <a:ext cx="1463040" cy="402336"/>
          </a:xfrm>
          <a:prstGeom prst="rect">
            <a:avLst/>
          </a:prstGeom>
          <a:noFill/>
        </p:spPr>
        <p:txBody>
          <a:bodyPr wrap="square">
            <a:spAutoFit/>
          </a:bodyPr>
          <a:lstStyle/>
          <a:p>
            <a:pPr algn="ctr"/>
            <a:r>
              <a:rPr sz="1000" b="0" i="0">
                <a:solidFill>
                  <a:srgbClr val="00B4D8"/>
                </a:solidFill>
              </a:rPr>
              <a:t>created</a:t>
            </a:r>
          </a:p>
        </p:txBody>
      </p:sp>
      <p:sp>
        <p:nvSpPr>
          <p:cNvPr id="53" name="TextBox 52"/>
          <p:cNvSpPr txBox="1"/>
          <p:nvPr/>
        </p:nvSpPr>
        <p:spPr>
          <a:xfrm>
            <a:off x="2029967" y="5230368"/>
            <a:ext cx="502920" cy="274320"/>
          </a:xfrm>
          <a:prstGeom prst="rect">
            <a:avLst/>
          </a:prstGeom>
          <a:noFill/>
        </p:spPr>
        <p:txBody>
          <a:bodyPr wrap="square">
            <a:spAutoFit/>
          </a:bodyPr>
          <a:lstStyle/>
          <a:p>
            <a:pPr algn="ctr"/>
            <a:r>
              <a:rPr sz="1400" b="1" i="0">
                <a:solidFill>
                  <a:srgbClr val="CCD6E0"/>
                </a:solidFill>
              </a:rPr>
              <a:t>→</a:t>
            </a:r>
          </a:p>
        </p:txBody>
      </p:sp>
      <p:sp>
        <p:nvSpPr>
          <p:cNvPr id="54" name="Rectangle 53"/>
          <p:cNvSpPr/>
          <p:nvPr/>
        </p:nvSpPr>
        <p:spPr>
          <a:xfrm>
            <a:off x="2286000" y="5166360"/>
            <a:ext cx="1554480" cy="457200"/>
          </a:xfrm>
          <a:prstGeom prst="rect">
            <a:avLst/>
          </a:prstGeom>
          <a:solidFill>
            <a:srgbClr val="1626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2286000" y="5166360"/>
            <a:ext cx="1554480" cy="45720"/>
          </a:xfrm>
          <a:prstGeom prst="rect">
            <a:avLst/>
          </a:prstGeom>
          <a:solidFill>
            <a:srgbClr val="90E0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2331720" y="5193792"/>
            <a:ext cx="1463040" cy="402336"/>
          </a:xfrm>
          <a:prstGeom prst="rect">
            <a:avLst/>
          </a:prstGeom>
          <a:noFill/>
        </p:spPr>
        <p:txBody>
          <a:bodyPr wrap="square">
            <a:spAutoFit/>
          </a:bodyPr>
          <a:lstStyle/>
          <a:p>
            <a:pPr algn="ctr"/>
            <a:r>
              <a:rPr sz="1000" b="0" i="0">
                <a:solidFill>
                  <a:srgbClr val="90E0EF"/>
                </a:solidFill>
              </a:rPr>
              <a:t>pending_storage</a:t>
            </a:r>
          </a:p>
        </p:txBody>
      </p:sp>
      <p:sp>
        <p:nvSpPr>
          <p:cNvPr id="57" name="TextBox 56"/>
          <p:cNvSpPr txBox="1"/>
          <p:nvPr/>
        </p:nvSpPr>
        <p:spPr>
          <a:xfrm>
            <a:off x="3858768" y="5230368"/>
            <a:ext cx="502920" cy="274320"/>
          </a:xfrm>
          <a:prstGeom prst="rect">
            <a:avLst/>
          </a:prstGeom>
          <a:noFill/>
        </p:spPr>
        <p:txBody>
          <a:bodyPr wrap="square">
            <a:spAutoFit/>
          </a:bodyPr>
          <a:lstStyle/>
          <a:p>
            <a:pPr algn="ctr"/>
            <a:r>
              <a:rPr sz="1400" b="1" i="0">
                <a:solidFill>
                  <a:srgbClr val="CCD6E0"/>
                </a:solidFill>
              </a:rPr>
              <a:t>→</a:t>
            </a:r>
          </a:p>
        </p:txBody>
      </p:sp>
      <p:sp>
        <p:nvSpPr>
          <p:cNvPr id="58" name="Rectangle 57"/>
          <p:cNvSpPr/>
          <p:nvPr/>
        </p:nvSpPr>
        <p:spPr>
          <a:xfrm>
            <a:off x="4480560" y="5166360"/>
            <a:ext cx="1554480" cy="457200"/>
          </a:xfrm>
          <a:prstGeom prst="rect">
            <a:avLst/>
          </a:prstGeom>
          <a:solidFill>
            <a:srgbClr val="1626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ectangle 58"/>
          <p:cNvSpPr/>
          <p:nvPr/>
        </p:nvSpPr>
        <p:spPr>
          <a:xfrm>
            <a:off x="4480560" y="5166360"/>
            <a:ext cx="1554480" cy="45720"/>
          </a:xfrm>
          <a:prstGeom prst="rect">
            <a:avLst/>
          </a:prstGeom>
          <a:solidFill>
            <a:srgbClr val="06D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4526280" y="5193792"/>
            <a:ext cx="1463040" cy="402336"/>
          </a:xfrm>
          <a:prstGeom prst="rect">
            <a:avLst/>
          </a:prstGeom>
          <a:noFill/>
        </p:spPr>
        <p:txBody>
          <a:bodyPr wrap="square">
            <a:spAutoFit/>
          </a:bodyPr>
          <a:lstStyle/>
          <a:p>
            <a:pPr algn="ctr"/>
            <a:r>
              <a:rPr sz="1000" b="0" i="0">
                <a:solidFill>
                  <a:srgbClr val="06D6A0"/>
                </a:solidFill>
              </a:rPr>
              <a:t>stored</a:t>
            </a:r>
          </a:p>
        </p:txBody>
      </p:sp>
      <p:sp>
        <p:nvSpPr>
          <p:cNvPr id="61" name="TextBox 60"/>
          <p:cNvSpPr txBox="1"/>
          <p:nvPr/>
        </p:nvSpPr>
        <p:spPr>
          <a:xfrm>
            <a:off x="6053328" y="5230368"/>
            <a:ext cx="502920" cy="274320"/>
          </a:xfrm>
          <a:prstGeom prst="rect">
            <a:avLst/>
          </a:prstGeom>
          <a:noFill/>
        </p:spPr>
        <p:txBody>
          <a:bodyPr wrap="square">
            <a:spAutoFit/>
          </a:bodyPr>
          <a:lstStyle/>
          <a:p>
            <a:pPr algn="ctr"/>
            <a:r>
              <a:rPr sz="1400" b="1" i="0">
                <a:solidFill>
                  <a:srgbClr val="CCD6E0"/>
                </a:solidFill>
              </a:rPr>
              <a:t>→</a:t>
            </a:r>
          </a:p>
        </p:txBody>
      </p:sp>
      <p:sp>
        <p:nvSpPr>
          <p:cNvPr id="62" name="Rectangle 61"/>
          <p:cNvSpPr/>
          <p:nvPr/>
        </p:nvSpPr>
        <p:spPr>
          <a:xfrm>
            <a:off x="6492240" y="5166360"/>
            <a:ext cx="1554480" cy="457200"/>
          </a:xfrm>
          <a:prstGeom prst="rect">
            <a:avLst/>
          </a:prstGeom>
          <a:solidFill>
            <a:srgbClr val="1626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ectangle 62"/>
          <p:cNvSpPr/>
          <p:nvPr/>
        </p:nvSpPr>
        <p:spPr>
          <a:xfrm>
            <a:off x="6492240" y="5166360"/>
            <a:ext cx="1554480" cy="45720"/>
          </a:xfrm>
          <a:prstGeom prst="rect">
            <a:avLst/>
          </a:prstGeom>
          <a:solidFill>
            <a:srgbClr val="FFD1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6537959" y="5193792"/>
            <a:ext cx="1463040" cy="402336"/>
          </a:xfrm>
          <a:prstGeom prst="rect">
            <a:avLst/>
          </a:prstGeom>
          <a:noFill/>
        </p:spPr>
        <p:txBody>
          <a:bodyPr wrap="square">
            <a:spAutoFit/>
          </a:bodyPr>
          <a:lstStyle/>
          <a:p>
            <a:pPr algn="ctr"/>
            <a:r>
              <a:rPr sz="1000" b="0" i="0">
                <a:solidFill>
                  <a:srgbClr val="FFD166"/>
                </a:solidFill>
              </a:rPr>
              <a:t>assigned</a:t>
            </a:r>
          </a:p>
        </p:txBody>
      </p:sp>
      <p:sp>
        <p:nvSpPr>
          <p:cNvPr id="65" name="TextBox 64"/>
          <p:cNvSpPr txBox="1"/>
          <p:nvPr/>
        </p:nvSpPr>
        <p:spPr>
          <a:xfrm>
            <a:off x="8065008" y="5230368"/>
            <a:ext cx="502920" cy="274320"/>
          </a:xfrm>
          <a:prstGeom prst="rect">
            <a:avLst/>
          </a:prstGeom>
          <a:noFill/>
        </p:spPr>
        <p:txBody>
          <a:bodyPr wrap="square">
            <a:spAutoFit/>
          </a:bodyPr>
          <a:lstStyle/>
          <a:p>
            <a:pPr algn="ctr"/>
            <a:r>
              <a:rPr sz="1400" b="1" i="0">
                <a:solidFill>
                  <a:srgbClr val="CCD6E0"/>
                </a:solidFill>
              </a:rPr>
              <a:t>→</a:t>
            </a:r>
          </a:p>
        </p:txBody>
      </p:sp>
      <p:sp>
        <p:nvSpPr>
          <p:cNvPr id="66" name="Rectangle 65"/>
          <p:cNvSpPr/>
          <p:nvPr/>
        </p:nvSpPr>
        <p:spPr>
          <a:xfrm>
            <a:off x="8503920" y="5166360"/>
            <a:ext cx="1554480" cy="457200"/>
          </a:xfrm>
          <a:prstGeom prst="rect">
            <a:avLst/>
          </a:prstGeom>
          <a:solidFill>
            <a:srgbClr val="1626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Rectangle 66"/>
          <p:cNvSpPr/>
          <p:nvPr/>
        </p:nvSpPr>
        <p:spPr>
          <a:xfrm>
            <a:off x="8503920" y="5166360"/>
            <a:ext cx="1554480" cy="45720"/>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8549640" y="5193792"/>
            <a:ext cx="1463040" cy="402336"/>
          </a:xfrm>
          <a:prstGeom prst="rect">
            <a:avLst/>
          </a:prstGeom>
          <a:noFill/>
        </p:spPr>
        <p:txBody>
          <a:bodyPr wrap="square">
            <a:spAutoFit/>
          </a:bodyPr>
          <a:lstStyle/>
          <a:p>
            <a:pPr algn="ctr"/>
            <a:r>
              <a:rPr sz="1000" b="0" i="0">
                <a:solidFill>
                  <a:srgbClr val="FF6B6B"/>
                </a:solidFill>
              </a:rPr>
              <a:t>in_transit</a:t>
            </a:r>
          </a:p>
        </p:txBody>
      </p:sp>
      <p:sp>
        <p:nvSpPr>
          <p:cNvPr id="69" name="TextBox 68"/>
          <p:cNvSpPr txBox="1"/>
          <p:nvPr/>
        </p:nvSpPr>
        <p:spPr>
          <a:xfrm>
            <a:off x="10076688" y="5230368"/>
            <a:ext cx="502920" cy="274320"/>
          </a:xfrm>
          <a:prstGeom prst="rect">
            <a:avLst/>
          </a:prstGeom>
          <a:noFill/>
        </p:spPr>
        <p:txBody>
          <a:bodyPr wrap="square">
            <a:spAutoFit/>
          </a:bodyPr>
          <a:lstStyle/>
          <a:p>
            <a:pPr algn="ctr"/>
            <a:r>
              <a:rPr sz="1400" b="1" i="0">
                <a:solidFill>
                  <a:srgbClr val="CCD6E0"/>
                </a:solidFill>
              </a:rPr>
              <a:t>→</a:t>
            </a:r>
          </a:p>
        </p:txBody>
      </p:sp>
      <p:sp>
        <p:nvSpPr>
          <p:cNvPr id="70" name="Rectangle 69"/>
          <p:cNvSpPr/>
          <p:nvPr/>
        </p:nvSpPr>
        <p:spPr>
          <a:xfrm>
            <a:off x="10332720" y="5166360"/>
            <a:ext cx="1554480" cy="457200"/>
          </a:xfrm>
          <a:prstGeom prst="rect">
            <a:avLst/>
          </a:prstGeom>
          <a:solidFill>
            <a:srgbClr val="1626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Rectangle 70"/>
          <p:cNvSpPr/>
          <p:nvPr/>
        </p:nvSpPr>
        <p:spPr>
          <a:xfrm>
            <a:off x="10332720" y="5166360"/>
            <a:ext cx="1554480" cy="45720"/>
          </a:xfrm>
          <a:prstGeom prst="rect">
            <a:avLst/>
          </a:prstGeom>
          <a:solidFill>
            <a:srgbClr val="A0FF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10378440" y="5193792"/>
            <a:ext cx="1463040" cy="402336"/>
          </a:xfrm>
          <a:prstGeom prst="rect">
            <a:avLst/>
          </a:prstGeom>
          <a:noFill/>
        </p:spPr>
        <p:txBody>
          <a:bodyPr wrap="square">
            <a:spAutoFit/>
          </a:bodyPr>
          <a:lstStyle/>
          <a:p>
            <a:pPr algn="ctr"/>
            <a:r>
              <a:rPr sz="1000" b="0" i="0">
                <a:solidFill>
                  <a:srgbClr val="A0FFA0"/>
                </a:solidFill>
              </a:rPr>
              <a:t>delivered</a:t>
            </a:r>
          </a:p>
        </p:txBody>
      </p:sp>
      <p:sp>
        <p:nvSpPr>
          <p:cNvPr id="73" name="TextBox 72"/>
          <p:cNvSpPr txBox="1"/>
          <p:nvPr/>
        </p:nvSpPr>
        <p:spPr>
          <a:xfrm>
            <a:off x="457200" y="5806440"/>
            <a:ext cx="11338560" cy="365760"/>
          </a:xfrm>
          <a:prstGeom prst="rect">
            <a:avLst/>
          </a:prstGeom>
          <a:noFill/>
        </p:spPr>
        <p:txBody>
          <a:bodyPr wrap="square">
            <a:spAutoFit/>
          </a:bodyPr>
          <a:lstStyle/>
          <a:p>
            <a:pPr algn="ctr"/>
            <a:r>
              <a:rPr sz="1100" b="0" i="1">
                <a:solidFill>
                  <a:srgbClr val="A8D8EA"/>
                </a:solidFill>
              </a:rPr>
              <a:t>Task statuses:  pending  →  in_progress  →  completed  |  cancelled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51560"/>
          </a:xfrm>
          <a:prstGeom prst="rect">
            <a:avLst/>
          </a:prstGeom>
          <a:solidFill>
            <a:srgbClr val="1626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24128"/>
            <a:ext cx="12188952" cy="457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73152"/>
            <a:ext cx="11430000" cy="640080"/>
          </a:xfrm>
          <a:prstGeom prst="rect">
            <a:avLst/>
          </a:prstGeom>
          <a:noFill/>
        </p:spPr>
        <p:txBody>
          <a:bodyPr wrap="square">
            <a:spAutoFit/>
          </a:bodyPr>
          <a:lstStyle/>
          <a:p>
            <a:pPr algn="l"/>
            <a:r>
              <a:rPr sz="2800" b="1" i="0">
                <a:solidFill>
                  <a:srgbClr val="00B4D8"/>
                </a:solidFill>
              </a:rPr>
              <a:t>System Modules</a:t>
            </a:r>
          </a:p>
        </p:txBody>
      </p:sp>
      <p:sp>
        <p:nvSpPr>
          <p:cNvPr id="6" name="TextBox 5"/>
          <p:cNvSpPr txBox="1"/>
          <p:nvPr/>
        </p:nvSpPr>
        <p:spPr>
          <a:xfrm>
            <a:off x="365760" y="658368"/>
            <a:ext cx="11430000" cy="347472"/>
          </a:xfrm>
          <a:prstGeom prst="rect">
            <a:avLst/>
          </a:prstGeom>
          <a:noFill/>
        </p:spPr>
        <p:txBody>
          <a:bodyPr wrap="square">
            <a:spAutoFit/>
          </a:bodyPr>
          <a:lstStyle/>
          <a:p>
            <a:pPr algn="l"/>
            <a:r>
              <a:rPr sz="1300" b="0" i="1">
                <a:solidFill>
                  <a:srgbClr val="A8D8EA"/>
                </a:solidFill>
              </a:rPr>
              <a:t>Breakdown of all functional modules across the three-service architecture</a:t>
            </a:r>
          </a:p>
        </p:txBody>
      </p:sp>
      <p:sp>
        <p:nvSpPr>
          <p:cNvPr id="7" name="Rectangle 6"/>
          <p:cNvSpPr/>
          <p:nvPr/>
        </p:nvSpPr>
        <p:spPr>
          <a:xfrm>
            <a:off x="228600" y="1143000"/>
            <a:ext cx="3749039" cy="1783079"/>
          </a:xfrm>
          <a:prstGeom prst="rect">
            <a:avLst/>
          </a:prstGeom>
          <a:solidFill>
            <a:srgbClr val="101E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28600" y="1143000"/>
            <a:ext cx="3749039" cy="457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38328" y="1197864"/>
            <a:ext cx="3529584" cy="384048"/>
          </a:xfrm>
          <a:prstGeom prst="rect">
            <a:avLst/>
          </a:prstGeom>
          <a:noFill/>
        </p:spPr>
        <p:txBody>
          <a:bodyPr wrap="square">
            <a:spAutoFit/>
          </a:bodyPr>
          <a:lstStyle/>
          <a:p>
            <a:pPr algn="l"/>
            <a:r>
              <a:rPr sz="1300" b="1" i="0">
                <a:solidFill>
                  <a:srgbClr val="00B4D8"/>
                </a:solidFill>
              </a:rPr>
              <a:t>Auth &amp; Access Control</a:t>
            </a:r>
          </a:p>
        </p:txBody>
      </p:sp>
      <p:sp>
        <p:nvSpPr>
          <p:cNvPr id="10" name="TextBox 9"/>
          <p:cNvSpPr txBox="1"/>
          <p:nvPr/>
        </p:nvSpPr>
        <p:spPr>
          <a:xfrm>
            <a:off x="306325" y="1297687"/>
            <a:ext cx="3429000" cy="1600200"/>
          </a:xfrm>
          <a:prstGeom prst="rect">
            <a:avLst/>
          </a:prstGeom>
          <a:noFill/>
        </p:spPr>
        <p:txBody>
          <a:bodyPr wrap="square">
            <a:spAutoFit/>
          </a:bodyPr>
          <a:lstStyle/>
          <a:p>
            <a:endParaRPr/>
          </a:p>
          <a:p>
            <a:pPr algn="l">
              <a:spcBef>
                <a:spcPts val="0"/>
              </a:spcBef>
            </a:pPr>
            <a:r>
              <a:rPr sz="1100" b="0" i="0">
                <a:solidFill>
                  <a:srgbClr val="CCD6E0"/>
                </a:solidFill>
              </a:rPr>
              <a:t>• JWT token (HS256, 24h expiry)</a:t>
            </a:r>
          </a:p>
          <a:p>
            <a:pPr algn="l">
              <a:spcBef>
                <a:spcPts val="0"/>
              </a:spcBef>
            </a:pPr>
            <a:r>
              <a:rPr sz="1100" b="0" i="0">
                <a:solidFill>
                  <a:srgbClr val="CCD6E0"/>
                </a:solidFill>
              </a:rPr>
              <a:t>• bcrypt password hashing</a:t>
            </a:r>
          </a:p>
          <a:p>
            <a:pPr algn="l">
              <a:spcBef>
                <a:spcPts val="0"/>
              </a:spcBef>
            </a:pPr>
            <a:r>
              <a:rPr sz="1100" b="0" i="0">
                <a:solidFill>
                  <a:srgbClr val="CCD6E0"/>
                </a:solidFill>
              </a:rPr>
              <a:t>• Roles: Manager / Leadman / Worker</a:t>
            </a:r>
          </a:p>
          <a:p>
            <a:pPr algn="l">
              <a:spcBef>
                <a:spcPts val="0"/>
              </a:spcBef>
            </a:pPr>
            <a:r>
              <a:rPr sz="1100" b="0" i="0">
                <a:solidFill>
                  <a:srgbClr val="CCD6E0"/>
                </a:solidFill>
              </a:rPr>
              <a:t>• DEV_MODE bypass for development</a:t>
            </a:r>
          </a:p>
        </p:txBody>
      </p:sp>
      <p:sp>
        <p:nvSpPr>
          <p:cNvPr id="11" name="Rectangle 10"/>
          <p:cNvSpPr/>
          <p:nvPr/>
        </p:nvSpPr>
        <p:spPr>
          <a:xfrm>
            <a:off x="4251960" y="1143000"/>
            <a:ext cx="3749039" cy="1783079"/>
          </a:xfrm>
          <a:prstGeom prst="rect">
            <a:avLst/>
          </a:prstGeom>
          <a:solidFill>
            <a:srgbClr val="101E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251960" y="1143000"/>
            <a:ext cx="3749039" cy="45720"/>
          </a:xfrm>
          <a:prstGeom prst="rect">
            <a:avLst/>
          </a:prstGeom>
          <a:solidFill>
            <a:srgbClr val="FFD1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361688" y="1197864"/>
            <a:ext cx="3529584" cy="384048"/>
          </a:xfrm>
          <a:prstGeom prst="rect">
            <a:avLst/>
          </a:prstGeom>
          <a:noFill/>
        </p:spPr>
        <p:txBody>
          <a:bodyPr wrap="square">
            <a:spAutoFit/>
          </a:bodyPr>
          <a:lstStyle/>
          <a:p>
            <a:pPr algn="l"/>
            <a:r>
              <a:rPr sz="1300" b="1" i="0">
                <a:solidFill>
                  <a:srgbClr val="FFD166"/>
                </a:solidFill>
              </a:rPr>
              <a:t>Pallet &amp; QR Management</a:t>
            </a:r>
          </a:p>
        </p:txBody>
      </p:sp>
      <p:sp>
        <p:nvSpPr>
          <p:cNvPr id="14" name="TextBox 13"/>
          <p:cNvSpPr txBox="1"/>
          <p:nvPr/>
        </p:nvSpPr>
        <p:spPr>
          <a:xfrm>
            <a:off x="4416552" y="1618488"/>
            <a:ext cx="3429000" cy="1600200"/>
          </a:xfrm>
          <a:prstGeom prst="rect">
            <a:avLst/>
          </a:prstGeom>
          <a:noFill/>
        </p:spPr>
        <p:txBody>
          <a:bodyPr wrap="square">
            <a:spAutoFit/>
          </a:bodyPr>
          <a:lstStyle/>
          <a:p>
            <a:endParaRPr/>
          </a:p>
          <a:p>
            <a:pPr algn="l">
              <a:spcBef>
                <a:spcPts val="0"/>
              </a:spcBef>
            </a:pPr>
            <a:r>
              <a:rPr sz="1100" b="0" i="0">
                <a:solidFill>
                  <a:srgbClr val="CCD6E0"/>
                </a:solidFill>
              </a:rPr>
              <a:t>• Create pallets via form or QR scan</a:t>
            </a:r>
          </a:p>
          <a:p>
            <a:pPr algn="l">
              <a:spcBef>
                <a:spcPts val="0"/>
              </a:spcBef>
            </a:pPr>
            <a:r>
              <a:rPr sz="1100" b="0" i="0">
                <a:solidFill>
                  <a:srgbClr val="CCD6E0"/>
                </a:solidFill>
              </a:rPr>
              <a:t>• html5-qrcode browser scanner</a:t>
            </a:r>
          </a:p>
          <a:p>
            <a:pPr algn="l">
              <a:spcBef>
                <a:spcPts val="0"/>
              </a:spcBef>
            </a:pPr>
            <a:r>
              <a:rPr sz="1100" b="0" i="0">
                <a:solidFill>
                  <a:srgbClr val="CCD6E0"/>
                </a:solidFill>
              </a:rPr>
              <a:t>• auto-route: cross-dock or storage</a:t>
            </a:r>
          </a:p>
          <a:p>
            <a:pPr algn="l">
              <a:spcBef>
                <a:spcPts val="0"/>
              </a:spcBef>
            </a:pPr>
            <a:r>
              <a:rPr sz="1100" b="0" i="0">
                <a:solidFill>
                  <a:srgbClr val="CCD6E0"/>
                </a:solidFill>
              </a:rPr>
              <a:t>• Status lifecycle tracking</a:t>
            </a:r>
          </a:p>
        </p:txBody>
      </p:sp>
      <p:sp>
        <p:nvSpPr>
          <p:cNvPr id="15" name="Rectangle 14"/>
          <p:cNvSpPr/>
          <p:nvPr/>
        </p:nvSpPr>
        <p:spPr>
          <a:xfrm>
            <a:off x="8275320" y="1143000"/>
            <a:ext cx="3749039" cy="1783079"/>
          </a:xfrm>
          <a:prstGeom prst="rect">
            <a:avLst/>
          </a:prstGeom>
          <a:solidFill>
            <a:srgbClr val="101E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275320" y="1143000"/>
            <a:ext cx="3749039" cy="45720"/>
          </a:xfrm>
          <a:prstGeom prst="rect">
            <a:avLst/>
          </a:prstGeom>
          <a:solidFill>
            <a:srgbClr val="06D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385048" y="1197864"/>
            <a:ext cx="3529584" cy="384048"/>
          </a:xfrm>
          <a:prstGeom prst="rect">
            <a:avLst/>
          </a:prstGeom>
          <a:noFill/>
        </p:spPr>
        <p:txBody>
          <a:bodyPr wrap="square">
            <a:spAutoFit/>
          </a:bodyPr>
          <a:lstStyle/>
          <a:p>
            <a:pPr algn="l"/>
            <a:r>
              <a:rPr sz="1300" b="1" i="0">
                <a:solidFill>
                  <a:srgbClr val="06D6A0"/>
                </a:solidFill>
              </a:rPr>
              <a:t>Rack Inventory Control</a:t>
            </a:r>
          </a:p>
        </p:txBody>
      </p:sp>
      <p:sp>
        <p:nvSpPr>
          <p:cNvPr id="18" name="TextBox 17"/>
          <p:cNvSpPr txBox="1"/>
          <p:nvPr/>
        </p:nvSpPr>
        <p:spPr>
          <a:xfrm>
            <a:off x="8439912" y="1618488"/>
            <a:ext cx="3429000" cy="1600200"/>
          </a:xfrm>
          <a:prstGeom prst="rect">
            <a:avLst/>
          </a:prstGeom>
          <a:noFill/>
        </p:spPr>
        <p:txBody>
          <a:bodyPr wrap="square">
            <a:spAutoFit/>
          </a:bodyPr>
          <a:lstStyle/>
          <a:p>
            <a:endParaRPr/>
          </a:p>
          <a:p>
            <a:pPr algn="l">
              <a:spcBef>
                <a:spcPts val="0"/>
              </a:spcBef>
            </a:pPr>
            <a:r>
              <a:rPr sz="1100" b="0" i="0">
                <a:solidFill>
                  <a:srgbClr val="CCD6E0"/>
                </a:solidFill>
              </a:rPr>
              <a:t>• 12 racks (A1–C4), 8 slots each</a:t>
            </a:r>
          </a:p>
          <a:p>
            <a:pPr algn="l">
              <a:spcBef>
                <a:spcPts val="0"/>
              </a:spcBef>
            </a:pPr>
            <a:r>
              <a:rPr sz="1100" b="0" i="0">
                <a:solidFill>
                  <a:srgbClr val="CCD6E0"/>
                </a:solidFill>
              </a:rPr>
              <a:t>• Nearest-slot assignment algorithm</a:t>
            </a:r>
          </a:p>
          <a:p>
            <a:pPr algn="l">
              <a:spcBef>
                <a:spcPts val="0"/>
              </a:spcBef>
            </a:pPr>
            <a:r>
              <a:rPr sz="1100" b="0" i="0">
                <a:solidFill>
                  <a:srgbClr val="CCD6E0"/>
                </a:solidFill>
              </a:rPr>
              <a:t>• Real-time occupancy per rack</a:t>
            </a:r>
          </a:p>
          <a:p>
            <a:pPr algn="l">
              <a:spcBef>
                <a:spcPts val="0"/>
              </a:spcBef>
            </a:pPr>
            <a:r>
              <a:rPr sz="1100" b="0" i="0">
                <a:solidFill>
                  <a:srgbClr val="CCD6E0"/>
                </a:solidFill>
              </a:rPr>
              <a:t>• Retrieve → assign → depart flow</a:t>
            </a:r>
          </a:p>
        </p:txBody>
      </p:sp>
      <p:sp>
        <p:nvSpPr>
          <p:cNvPr id="19" name="Rectangle 18"/>
          <p:cNvSpPr/>
          <p:nvPr/>
        </p:nvSpPr>
        <p:spPr>
          <a:xfrm>
            <a:off x="205741" y="3057143"/>
            <a:ext cx="3749039" cy="1911097"/>
          </a:xfrm>
          <a:prstGeom prst="rect">
            <a:avLst/>
          </a:prstGeom>
          <a:solidFill>
            <a:srgbClr val="101E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0" name="Rectangle 19"/>
          <p:cNvSpPr/>
          <p:nvPr/>
        </p:nvSpPr>
        <p:spPr>
          <a:xfrm>
            <a:off x="237745" y="3104385"/>
            <a:ext cx="3749039" cy="45720"/>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05741" y="3197347"/>
            <a:ext cx="3529584" cy="384048"/>
          </a:xfrm>
          <a:prstGeom prst="rect">
            <a:avLst/>
          </a:prstGeom>
          <a:noFill/>
        </p:spPr>
        <p:txBody>
          <a:bodyPr wrap="square">
            <a:spAutoFit/>
          </a:bodyPr>
          <a:lstStyle/>
          <a:p>
            <a:pPr algn="l"/>
            <a:r>
              <a:rPr sz="1300" b="1" i="0">
                <a:solidFill>
                  <a:srgbClr val="FF6B6B"/>
                </a:solidFill>
              </a:rPr>
              <a:t>Optimiser Engine</a:t>
            </a:r>
          </a:p>
        </p:txBody>
      </p:sp>
      <p:sp>
        <p:nvSpPr>
          <p:cNvPr id="22" name="TextBox 21"/>
          <p:cNvSpPr txBox="1"/>
          <p:nvPr/>
        </p:nvSpPr>
        <p:spPr>
          <a:xfrm>
            <a:off x="384049" y="3244592"/>
            <a:ext cx="3429000" cy="1600200"/>
          </a:xfrm>
          <a:prstGeom prst="rect">
            <a:avLst/>
          </a:prstGeom>
          <a:noFill/>
        </p:spPr>
        <p:txBody>
          <a:bodyPr wrap="square">
            <a:spAutoFit/>
          </a:bodyPr>
          <a:lstStyle/>
          <a:p>
            <a:endParaRPr dirty="0"/>
          </a:p>
          <a:p>
            <a:pPr algn="l">
              <a:spcBef>
                <a:spcPts val="0"/>
              </a:spcBef>
            </a:pPr>
            <a:r>
              <a:rPr sz="1100" b="0" i="0" dirty="0">
                <a:solidFill>
                  <a:srgbClr val="CCD6E0"/>
                </a:solidFill>
              </a:rPr>
              <a:t>• Python </a:t>
            </a:r>
            <a:r>
              <a:rPr sz="1100" b="0" i="0" dirty="0" err="1">
                <a:solidFill>
                  <a:srgbClr val="CCD6E0"/>
                </a:solidFill>
              </a:rPr>
              <a:t>FastAPI</a:t>
            </a:r>
            <a:r>
              <a:rPr sz="1100" b="0" i="0" dirty="0">
                <a:solidFill>
                  <a:srgbClr val="CCD6E0"/>
                </a:solidFill>
              </a:rPr>
              <a:t> on port 8000</a:t>
            </a:r>
          </a:p>
          <a:p>
            <a:pPr algn="l">
              <a:spcBef>
                <a:spcPts val="0"/>
              </a:spcBef>
            </a:pPr>
            <a:r>
              <a:rPr sz="1100" b="0" i="0" dirty="0">
                <a:solidFill>
                  <a:srgbClr val="CCD6E0"/>
                </a:solidFill>
              </a:rPr>
              <a:t>• Multi-factor scoring algorithm</a:t>
            </a:r>
          </a:p>
          <a:p>
            <a:pPr algn="l">
              <a:spcBef>
                <a:spcPts val="0"/>
              </a:spcBef>
            </a:pPr>
            <a:r>
              <a:rPr sz="1100" b="0" i="0" dirty="0">
                <a:solidFill>
                  <a:srgbClr val="CCD6E0"/>
                </a:solidFill>
              </a:rPr>
              <a:t>• Anti-starvation aging bonus</a:t>
            </a:r>
          </a:p>
          <a:p>
            <a:pPr algn="l">
              <a:spcBef>
                <a:spcPts val="0"/>
              </a:spcBef>
            </a:pPr>
            <a:r>
              <a:rPr sz="1100" b="0" i="0" dirty="0">
                <a:solidFill>
                  <a:srgbClr val="CCD6E0"/>
                </a:solidFill>
              </a:rPr>
              <a:t>• /optimize/explain for audit trail</a:t>
            </a:r>
          </a:p>
        </p:txBody>
      </p:sp>
      <p:sp>
        <p:nvSpPr>
          <p:cNvPr id="23" name="Rectangle 22"/>
          <p:cNvSpPr/>
          <p:nvPr/>
        </p:nvSpPr>
        <p:spPr>
          <a:xfrm>
            <a:off x="4251960" y="3657600"/>
            <a:ext cx="3749039" cy="2148840"/>
          </a:xfrm>
          <a:prstGeom prst="rect">
            <a:avLst/>
          </a:prstGeom>
          <a:solidFill>
            <a:srgbClr val="101E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4251960" y="3657600"/>
            <a:ext cx="3749039" cy="45720"/>
          </a:xfrm>
          <a:prstGeom prst="rect">
            <a:avLst/>
          </a:prstGeom>
          <a:solidFill>
            <a:srgbClr val="90E0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361688" y="3712463"/>
            <a:ext cx="3529584" cy="384048"/>
          </a:xfrm>
          <a:prstGeom prst="rect">
            <a:avLst/>
          </a:prstGeom>
          <a:noFill/>
        </p:spPr>
        <p:txBody>
          <a:bodyPr wrap="square">
            <a:spAutoFit/>
          </a:bodyPr>
          <a:lstStyle/>
          <a:p>
            <a:pPr algn="l"/>
            <a:r>
              <a:rPr sz="1300" b="1" i="0">
                <a:solidFill>
                  <a:srgbClr val="90E0EF"/>
                </a:solidFill>
              </a:rPr>
              <a:t>Task Dispatch &amp; SSE</a:t>
            </a:r>
          </a:p>
        </p:txBody>
      </p:sp>
      <p:sp>
        <p:nvSpPr>
          <p:cNvPr id="26" name="TextBox 25"/>
          <p:cNvSpPr txBox="1"/>
          <p:nvPr/>
        </p:nvSpPr>
        <p:spPr>
          <a:xfrm>
            <a:off x="4416552" y="4133087"/>
            <a:ext cx="3429000" cy="1600200"/>
          </a:xfrm>
          <a:prstGeom prst="rect">
            <a:avLst/>
          </a:prstGeom>
          <a:noFill/>
        </p:spPr>
        <p:txBody>
          <a:bodyPr wrap="square">
            <a:spAutoFit/>
          </a:bodyPr>
          <a:lstStyle/>
          <a:p>
            <a:endParaRPr/>
          </a:p>
          <a:p>
            <a:pPr algn="l">
              <a:spcBef>
                <a:spcPts val="0"/>
              </a:spcBef>
            </a:pPr>
            <a:r>
              <a:rPr sz="1100" b="0" i="0">
                <a:solidFill>
                  <a:srgbClr val="CCD6E0"/>
                </a:solidFill>
              </a:rPr>
              <a:t>• Tasks auto-generated post-optimise</a:t>
            </a:r>
          </a:p>
          <a:p>
            <a:pPr algn="l">
              <a:spcBef>
                <a:spcPts val="0"/>
              </a:spcBef>
            </a:pPr>
            <a:r>
              <a:rPr sz="1100" b="0" i="0">
                <a:solidFill>
                  <a:srgbClr val="CCD6E0"/>
                </a:solidFill>
              </a:rPr>
              <a:t>• SSE broadcasts to all workers live</a:t>
            </a:r>
          </a:p>
          <a:p>
            <a:pPr algn="l">
              <a:spcBef>
                <a:spcPts val="0"/>
              </a:spcBef>
            </a:pPr>
            <a:r>
              <a:rPr sz="1100" b="0" i="0">
                <a:solidFill>
                  <a:srgbClr val="CCD6E0"/>
                </a:solidFill>
              </a:rPr>
              <a:t>• Start / Complete via button or QR</a:t>
            </a:r>
          </a:p>
          <a:p>
            <a:pPr algn="l">
              <a:spcBef>
                <a:spcPts val="0"/>
              </a:spcBef>
            </a:pPr>
            <a:r>
              <a:rPr sz="1100" b="0" i="0">
                <a:solidFill>
                  <a:srgbClr val="CCD6E0"/>
                </a:solidFill>
              </a:rPr>
              <a:t>• Worker productivity auto-tracked</a:t>
            </a:r>
          </a:p>
        </p:txBody>
      </p:sp>
      <p:sp>
        <p:nvSpPr>
          <p:cNvPr id="27" name="Rectangle 26"/>
          <p:cNvSpPr/>
          <p:nvPr/>
        </p:nvSpPr>
        <p:spPr>
          <a:xfrm>
            <a:off x="8275320" y="3657600"/>
            <a:ext cx="3749039" cy="2148840"/>
          </a:xfrm>
          <a:prstGeom prst="rect">
            <a:avLst/>
          </a:prstGeom>
          <a:solidFill>
            <a:srgbClr val="101E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8275320" y="3657600"/>
            <a:ext cx="3749039" cy="45720"/>
          </a:xfrm>
          <a:prstGeom prst="rect">
            <a:avLst/>
          </a:prstGeom>
          <a:solidFill>
            <a:srgbClr val="A8D8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385048" y="3712463"/>
            <a:ext cx="3529584" cy="384048"/>
          </a:xfrm>
          <a:prstGeom prst="rect">
            <a:avLst/>
          </a:prstGeom>
          <a:noFill/>
        </p:spPr>
        <p:txBody>
          <a:bodyPr wrap="square">
            <a:spAutoFit/>
          </a:bodyPr>
          <a:lstStyle/>
          <a:p>
            <a:pPr algn="l"/>
            <a:r>
              <a:rPr sz="1300" b="1" i="0">
                <a:solidFill>
                  <a:srgbClr val="A8D8EA"/>
                </a:solidFill>
              </a:rPr>
              <a:t>Truck Management</a:t>
            </a:r>
          </a:p>
        </p:txBody>
      </p:sp>
      <p:sp>
        <p:nvSpPr>
          <p:cNvPr id="30" name="TextBox 29"/>
          <p:cNvSpPr txBox="1"/>
          <p:nvPr/>
        </p:nvSpPr>
        <p:spPr>
          <a:xfrm>
            <a:off x="8439912" y="4133087"/>
            <a:ext cx="3429000" cy="1600200"/>
          </a:xfrm>
          <a:prstGeom prst="rect">
            <a:avLst/>
          </a:prstGeom>
          <a:noFill/>
        </p:spPr>
        <p:txBody>
          <a:bodyPr wrap="square">
            <a:spAutoFit/>
          </a:bodyPr>
          <a:lstStyle/>
          <a:p>
            <a:endParaRPr/>
          </a:p>
          <a:p>
            <a:pPr algn="l">
              <a:spcBef>
                <a:spcPts val="0"/>
              </a:spcBef>
            </a:pPr>
            <a:r>
              <a:rPr sz="1100" b="0" i="0">
                <a:solidFill>
                  <a:srgbClr val="CCD6E0"/>
                </a:solidFill>
              </a:rPr>
              <a:t>• Inbound: log arriving TN trucks</a:t>
            </a:r>
          </a:p>
          <a:p>
            <a:pPr algn="l">
              <a:spcBef>
                <a:spcPts val="0"/>
              </a:spcBef>
            </a:pPr>
            <a:r>
              <a:rPr sz="1100" b="0" i="0">
                <a:solidFill>
                  <a:srgbClr val="CCD6E0"/>
                </a:solidFill>
              </a:rPr>
              <a:t>• Outbound: schedule, load, depart</a:t>
            </a:r>
          </a:p>
          <a:p>
            <a:pPr algn="l">
              <a:spcBef>
                <a:spcPts val="0"/>
              </a:spcBef>
            </a:pPr>
            <a:r>
              <a:rPr sz="1100" b="0" i="0">
                <a:solidFill>
                  <a:srgbClr val="CCD6E0"/>
                </a:solidFill>
              </a:rPr>
              <a:t>• Dock assignment &amp; congestion alerts</a:t>
            </a:r>
          </a:p>
          <a:p>
            <a:pPr algn="l">
              <a:spcBef>
                <a:spcPts val="0"/>
              </a:spcBef>
            </a:pPr>
            <a:r>
              <a:rPr sz="1100" b="0" i="0">
                <a:solidFill>
                  <a:srgbClr val="CCD6E0"/>
                </a:solidFill>
              </a:rPr>
              <a:t>• Departure manifest (JSONB stored)</a:t>
            </a:r>
          </a:p>
        </p:txBody>
      </p:sp>
      <p:sp>
        <p:nvSpPr>
          <p:cNvPr id="31" name="Rectangle 30"/>
          <p:cNvSpPr/>
          <p:nvPr/>
        </p:nvSpPr>
        <p:spPr>
          <a:xfrm>
            <a:off x="205741" y="5108444"/>
            <a:ext cx="3749039" cy="2148840"/>
          </a:xfrm>
          <a:prstGeom prst="rect">
            <a:avLst/>
          </a:prstGeom>
          <a:solidFill>
            <a:srgbClr val="101E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228600" y="5989320"/>
            <a:ext cx="3749039" cy="45720"/>
          </a:xfrm>
          <a:prstGeom prst="rect">
            <a:avLst/>
          </a:prstGeom>
          <a:solidFill>
            <a:srgbClr val="FFA0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38328" y="6044183"/>
            <a:ext cx="3529584" cy="384048"/>
          </a:xfrm>
          <a:prstGeom prst="rect">
            <a:avLst/>
          </a:prstGeom>
          <a:noFill/>
        </p:spPr>
        <p:txBody>
          <a:bodyPr wrap="square">
            <a:spAutoFit/>
          </a:bodyPr>
          <a:lstStyle/>
          <a:p>
            <a:pPr algn="l"/>
            <a:r>
              <a:rPr sz="1300" b="1" i="0">
                <a:solidFill>
                  <a:srgbClr val="FFA0B0"/>
                </a:solidFill>
              </a:rPr>
              <a:t>KPI Dashboard</a:t>
            </a:r>
          </a:p>
        </p:txBody>
      </p:sp>
      <p:sp>
        <p:nvSpPr>
          <p:cNvPr id="34" name="TextBox 33"/>
          <p:cNvSpPr txBox="1"/>
          <p:nvPr/>
        </p:nvSpPr>
        <p:spPr>
          <a:xfrm>
            <a:off x="393192" y="6464808"/>
            <a:ext cx="3429000" cy="1600200"/>
          </a:xfrm>
          <a:prstGeom prst="rect">
            <a:avLst/>
          </a:prstGeom>
          <a:noFill/>
        </p:spPr>
        <p:txBody>
          <a:bodyPr wrap="square">
            <a:spAutoFit/>
          </a:bodyPr>
          <a:lstStyle/>
          <a:p>
            <a:endParaRPr dirty="0"/>
          </a:p>
          <a:p>
            <a:pPr algn="l">
              <a:spcBef>
                <a:spcPts val="0"/>
              </a:spcBef>
            </a:pPr>
            <a:r>
              <a:rPr sz="1100" b="0" i="0" dirty="0">
                <a:solidFill>
                  <a:srgbClr val="CCD6E0"/>
                </a:solidFill>
              </a:rPr>
              <a:t>• Throughput, dwell time, rack fill %</a:t>
            </a:r>
          </a:p>
          <a:p>
            <a:pPr algn="l">
              <a:spcBef>
                <a:spcPts val="0"/>
              </a:spcBef>
            </a:pPr>
            <a:r>
              <a:rPr sz="1100" b="0" i="0" dirty="0">
                <a:solidFill>
                  <a:srgbClr val="CCD6E0"/>
                </a:solidFill>
              </a:rPr>
              <a:t>• Worker task counts &amp; avg time/task</a:t>
            </a:r>
          </a:p>
          <a:p>
            <a:pPr algn="l">
              <a:spcBef>
                <a:spcPts val="0"/>
              </a:spcBef>
            </a:pPr>
            <a:r>
              <a:rPr sz="1100" b="0" i="0" dirty="0">
                <a:solidFill>
                  <a:srgbClr val="CCD6E0"/>
                </a:solidFill>
              </a:rPr>
              <a:t>• Truck loading stats</a:t>
            </a:r>
          </a:p>
          <a:p>
            <a:pPr algn="l">
              <a:spcBef>
                <a:spcPts val="0"/>
              </a:spcBef>
            </a:pPr>
            <a:r>
              <a:rPr sz="1100" b="0" i="0" dirty="0">
                <a:solidFill>
                  <a:srgbClr val="CCD6E0"/>
                </a:solidFill>
              </a:rPr>
              <a:t>• Last 50 warehouse events</a:t>
            </a:r>
          </a:p>
        </p:txBody>
      </p:sp>
      <p:sp>
        <p:nvSpPr>
          <p:cNvPr id="35" name="Rectangle 34"/>
          <p:cNvSpPr/>
          <p:nvPr/>
        </p:nvSpPr>
        <p:spPr>
          <a:xfrm>
            <a:off x="4251960" y="5989320"/>
            <a:ext cx="3749039" cy="2148840"/>
          </a:xfrm>
          <a:prstGeom prst="rect">
            <a:avLst/>
          </a:prstGeom>
          <a:solidFill>
            <a:srgbClr val="101E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4251960" y="5989320"/>
            <a:ext cx="3749039" cy="45720"/>
          </a:xfrm>
          <a:prstGeom prst="rect">
            <a:avLst/>
          </a:prstGeom>
          <a:solidFill>
            <a:srgbClr val="FFD1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361688" y="6044183"/>
            <a:ext cx="3529584" cy="384048"/>
          </a:xfrm>
          <a:prstGeom prst="rect">
            <a:avLst/>
          </a:prstGeom>
          <a:noFill/>
        </p:spPr>
        <p:txBody>
          <a:bodyPr wrap="square">
            <a:spAutoFit/>
          </a:bodyPr>
          <a:lstStyle/>
          <a:p>
            <a:pPr algn="l"/>
            <a:r>
              <a:rPr sz="1300" b="1" i="0">
                <a:solidFill>
                  <a:srgbClr val="FFD166"/>
                </a:solidFill>
              </a:rPr>
              <a:t>Safety &amp; Incidents</a:t>
            </a:r>
          </a:p>
        </p:txBody>
      </p:sp>
      <p:sp>
        <p:nvSpPr>
          <p:cNvPr id="38" name="TextBox 37"/>
          <p:cNvSpPr txBox="1"/>
          <p:nvPr/>
        </p:nvSpPr>
        <p:spPr>
          <a:xfrm>
            <a:off x="4416552" y="6464808"/>
            <a:ext cx="3429000" cy="1600200"/>
          </a:xfrm>
          <a:prstGeom prst="rect">
            <a:avLst/>
          </a:prstGeom>
          <a:noFill/>
        </p:spPr>
        <p:txBody>
          <a:bodyPr wrap="square">
            <a:spAutoFit/>
          </a:bodyPr>
          <a:lstStyle/>
          <a:p>
            <a:endParaRPr/>
          </a:p>
          <a:p>
            <a:pPr algn="l">
              <a:spcBef>
                <a:spcPts val="0"/>
              </a:spcBef>
            </a:pPr>
            <a:r>
              <a:rPr sz="1100" b="0" i="0">
                <a:solidFill>
                  <a:srgbClr val="CCD6E0"/>
                </a:solidFill>
              </a:rPr>
              <a:t>• Workers file incident reports</a:t>
            </a:r>
          </a:p>
          <a:p>
            <a:pPr algn="l">
              <a:spcBef>
                <a:spcPts val="0"/>
              </a:spcBef>
            </a:pPr>
            <a:r>
              <a:rPr sz="1100" b="0" i="0">
                <a:solidFill>
                  <a:srgbClr val="CCD6E0"/>
                </a:solidFill>
              </a:rPr>
              <a:t>• Severity: low / medium / high / critical</a:t>
            </a:r>
          </a:p>
          <a:p>
            <a:pPr algn="l">
              <a:spcBef>
                <a:spcPts val="0"/>
              </a:spcBef>
            </a:pPr>
            <a:r>
              <a:rPr sz="1100" b="0" i="0">
                <a:solidFill>
                  <a:srgbClr val="CCD6E0"/>
                </a:solidFill>
              </a:rPr>
              <a:t>• Manager resolution workflow</a:t>
            </a:r>
          </a:p>
          <a:p>
            <a:pPr algn="l">
              <a:spcBef>
                <a:spcPts val="0"/>
              </a:spcBef>
            </a:pPr>
            <a:r>
              <a:rPr sz="1100" b="0" i="0">
                <a:solidFill>
                  <a:srgbClr val="CCD6E0"/>
                </a:solidFill>
              </a:rPr>
              <a:t>• Linked to warehouse locations</a:t>
            </a:r>
          </a:p>
        </p:txBody>
      </p:sp>
      <p:sp>
        <p:nvSpPr>
          <p:cNvPr id="39" name="Rectangle 38"/>
          <p:cNvSpPr/>
          <p:nvPr/>
        </p:nvSpPr>
        <p:spPr>
          <a:xfrm>
            <a:off x="8275320" y="5989320"/>
            <a:ext cx="3749039" cy="2148840"/>
          </a:xfrm>
          <a:prstGeom prst="rect">
            <a:avLst/>
          </a:prstGeom>
          <a:solidFill>
            <a:srgbClr val="101E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8275320" y="5989320"/>
            <a:ext cx="3749039" cy="45720"/>
          </a:xfrm>
          <a:prstGeom prst="rect">
            <a:avLst/>
          </a:prstGeom>
          <a:solidFill>
            <a:srgbClr val="06D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385048" y="6044183"/>
            <a:ext cx="3529584" cy="384048"/>
          </a:xfrm>
          <a:prstGeom prst="rect">
            <a:avLst/>
          </a:prstGeom>
          <a:noFill/>
        </p:spPr>
        <p:txBody>
          <a:bodyPr wrap="square">
            <a:spAutoFit/>
          </a:bodyPr>
          <a:lstStyle/>
          <a:p>
            <a:pPr algn="l"/>
            <a:r>
              <a:rPr sz="1300" b="1" i="0">
                <a:solidFill>
                  <a:srgbClr val="06D6A0"/>
                </a:solidFill>
              </a:rPr>
              <a:t>Analytics &amp; Events</a:t>
            </a:r>
          </a:p>
        </p:txBody>
      </p:sp>
      <p:sp>
        <p:nvSpPr>
          <p:cNvPr id="42" name="TextBox 41"/>
          <p:cNvSpPr txBox="1"/>
          <p:nvPr/>
        </p:nvSpPr>
        <p:spPr>
          <a:xfrm>
            <a:off x="8439912" y="6464808"/>
            <a:ext cx="3429000" cy="1600200"/>
          </a:xfrm>
          <a:prstGeom prst="rect">
            <a:avLst/>
          </a:prstGeom>
          <a:noFill/>
        </p:spPr>
        <p:txBody>
          <a:bodyPr wrap="square">
            <a:spAutoFit/>
          </a:bodyPr>
          <a:lstStyle/>
          <a:p>
            <a:endParaRPr/>
          </a:p>
          <a:p>
            <a:pPr algn="l">
              <a:spcBef>
                <a:spcPts val="0"/>
              </a:spcBef>
            </a:pPr>
            <a:r>
              <a:rPr sz="1100" b="0" i="0">
                <a:solidFill>
                  <a:srgbClr val="CCD6E0"/>
                </a:solidFill>
              </a:rPr>
              <a:t>• Event log: every pallet move</a:t>
            </a:r>
          </a:p>
          <a:p>
            <a:pPr algn="l">
              <a:spcBef>
                <a:spcPts val="0"/>
              </a:spcBef>
            </a:pPr>
            <a:r>
              <a:rPr sz="1100" b="0" i="0">
                <a:solidFill>
                  <a:srgbClr val="CCD6E0"/>
                </a:solidFill>
              </a:rPr>
              <a:t>• Congestion detection service</a:t>
            </a:r>
          </a:p>
          <a:p>
            <a:pPr algn="l">
              <a:spcBef>
                <a:spcPts val="0"/>
              </a:spcBef>
            </a:pPr>
            <a:r>
              <a:rPr sz="1100" b="0" i="0">
                <a:solidFill>
                  <a:srgbClr val="CCD6E0"/>
                </a:solidFill>
              </a:rPr>
              <a:t>• Chart visualisations (bar, line)</a:t>
            </a:r>
          </a:p>
          <a:p>
            <a:pPr algn="l">
              <a:spcBef>
                <a:spcPts val="0"/>
              </a:spcBef>
            </a:pPr>
            <a:r>
              <a:rPr sz="1100" b="0" i="0">
                <a:solidFill>
                  <a:srgbClr val="CCD6E0"/>
                </a:solidFill>
              </a:rPr>
              <a:t>• Exportable manifest per truck</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51560"/>
          </a:xfrm>
          <a:prstGeom prst="rect">
            <a:avLst/>
          </a:prstGeom>
          <a:solidFill>
            <a:srgbClr val="1626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24128"/>
            <a:ext cx="12188952" cy="457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73152"/>
            <a:ext cx="11430000" cy="640080"/>
          </a:xfrm>
          <a:prstGeom prst="rect">
            <a:avLst/>
          </a:prstGeom>
          <a:noFill/>
        </p:spPr>
        <p:txBody>
          <a:bodyPr wrap="square">
            <a:spAutoFit/>
          </a:bodyPr>
          <a:lstStyle/>
          <a:p>
            <a:pPr algn="l"/>
            <a:r>
              <a:rPr sz="2800" b="1" i="0">
                <a:solidFill>
                  <a:srgbClr val="00B4D8"/>
                </a:solidFill>
              </a:rPr>
              <a:t>Future Implementations</a:t>
            </a:r>
          </a:p>
        </p:txBody>
      </p:sp>
      <p:sp>
        <p:nvSpPr>
          <p:cNvPr id="6" name="TextBox 5"/>
          <p:cNvSpPr txBox="1"/>
          <p:nvPr/>
        </p:nvSpPr>
        <p:spPr>
          <a:xfrm>
            <a:off x="365760" y="658368"/>
            <a:ext cx="11430000" cy="347472"/>
          </a:xfrm>
          <a:prstGeom prst="rect">
            <a:avLst/>
          </a:prstGeom>
          <a:noFill/>
        </p:spPr>
        <p:txBody>
          <a:bodyPr wrap="square">
            <a:spAutoFit/>
          </a:bodyPr>
          <a:lstStyle/>
          <a:p>
            <a:pPr algn="l"/>
            <a:r>
              <a:rPr sz="1300" b="0" i="1">
                <a:solidFill>
                  <a:srgbClr val="A8D8EA"/>
                </a:solidFill>
              </a:rPr>
              <a:t>Planned enhancements to extend SWMS capabilities</a:t>
            </a:r>
          </a:p>
        </p:txBody>
      </p:sp>
      <p:sp>
        <p:nvSpPr>
          <p:cNvPr id="7" name="Rectangle 6"/>
          <p:cNvSpPr/>
          <p:nvPr/>
        </p:nvSpPr>
        <p:spPr>
          <a:xfrm>
            <a:off x="274320" y="1188720"/>
            <a:ext cx="5715000" cy="1188720"/>
          </a:xfrm>
          <a:prstGeom prst="rect">
            <a:avLst/>
          </a:prstGeom>
          <a:solidFill>
            <a:srgbClr val="101E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74320" y="1188720"/>
            <a:ext cx="54864" cy="11887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 y="1261872"/>
            <a:ext cx="5394960" cy="347472"/>
          </a:xfrm>
          <a:prstGeom prst="rect">
            <a:avLst/>
          </a:prstGeom>
          <a:noFill/>
        </p:spPr>
        <p:txBody>
          <a:bodyPr wrap="square">
            <a:spAutoFit/>
          </a:bodyPr>
          <a:lstStyle/>
          <a:p>
            <a:pPr algn="l"/>
            <a:r>
              <a:rPr sz="1300" b="1" i="0">
                <a:solidFill>
                  <a:srgbClr val="00B4D8"/>
                </a:solidFill>
              </a:rPr>
              <a:t>Mobile Worker App</a:t>
            </a:r>
          </a:p>
        </p:txBody>
      </p:sp>
      <p:sp>
        <p:nvSpPr>
          <p:cNvPr id="10" name="TextBox 9"/>
          <p:cNvSpPr txBox="1"/>
          <p:nvPr/>
        </p:nvSpPr>
        <p:spPr>
          <a:xfrm>
            <a:off x="457200" y="1627632"/>
            <a:ext cx="5394960" cy="731520"/>
          </a:xfrm>
          <a:prstGeom prst="rect">
            <a:avLst/>
          </a:prstGeom>
          <a:noFill/>
        </p:spPr>
        <p:txBody>
          <a:bodyPr wrap="square">
            <a:spAutoFit/>
          </a:bodyPr>
          <a:lstStyle/>
          <a:p>
            <a:pPr algn="l"/>
            <a:r>
              <a:rPr sz="1100" b="0" i="0">
                <a:solidFill>
                  <a:srgbClr val="CCD6E0"/>
                </a:solidFill>
              </a:rPr>
              <a:t>Native iOS/Android app with offline QR scanning; sync tasks and scan results when connectivity restored.</a:t>
            </a:r>
          </a:p>
        </p:txBody>
      </p:sp>
      <p:sp>
        <p:nvSpPr>
          <p:cNvPr id="11" name="Rectangle 10"/>
          <p:cNvSpPr/>
          <p:nvPr/>
        </p:nvSpPr>
        <p:spPr>
          <a:xfrm>
            <a:off x="6263640" y="1188720"/>
            <a:ext cx="5715000" cy="1188720"/>
          </a:xfrm>
          <a:prstGeom prst="rect">
            <a:avLst/>
          </a:prstGeom>
          <a:solidFill>
            <a:srgbClr val="101E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263640" y="1188720"/>
            <a:ext cx="54864" cy="1188720"/>
          </a:xfrm>
          <a:prstGeom prst="rect">
            <a:avLst/>
          </a:prstGeom>
          <a:solidFill>
            <a:srgbClr val="FFD1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46520" y="1261872"/>
            <a:ext cx="5394960" cy="347472"/>
          </a:xfrm>
          <a:prstGeom prst="rect">
            <a:avLst/>
          </a:prstGeom>
          <a:noFill/>
        </p:spPr>
        <p:txBody>
          <a:bodyPr wrap="square">
            <a:spAutoFit/>
          </a:bodyPr>
          <a:lstStyle/>
          <a:p>
            <a:pPr algn="l"/>
            <a:r>
              <a:rPr sz="1300" b="1" i="0">
                <a:solidFill>
                  <a:srgbClr val="FFD166"/>
                </a:solidFill>
              </a:rPr>
              <a:t>ML-Based Demand Forecast</a:t>
            </a:r>
          </a:p>
        </p:txBody>
      </p:sp>
      <p:sp>
        <p:nvSpPr>
          <p:cNvPr id="14" name="TextBox 13"/>
          <p:cNvSpPr txBox="1"/>
          <p:nvPr/>
        </p:nvSpPr>
        <p:spPr>
          <a:xfrm>
            <a:off x="6446520" y="1627632"/>
            <a:ext cx="5394960" cy="731520"/>
          </a:xfrm>
          <a:prstGeom prst="rect">
            <a:avLst/>
          </a:prstGeom>
          <a:noFill/>
        </p:spPr>
        <p:txBody>
          <a:bodyPr wrap="square">
            <a:spAutoFit/>
          </a:bodyPr>
          <a:lstStyle/>
          <a:p>
            <a:pPr algn="l"/>
            <a:r>
              <a:rPr sz="1100" b="0" i="0">
                <a:solidFill>
                  <a:srgbClr val="CCD6E0"/>
                </a:solidFill>
              </a:rPr>
              <a:t>Integrate a time-series model (Prophet/LSTM) to predict inbound volumes and pre-position racks before truck arrival.</a:t>
            </a:r>
          </a:p>
        </p:txBody>
      </p:sp>
      <p:sp>
        <p:nvSpPr>
          <p:cNvPr id="15" name="Rectangle 14"/>
          <p:cNvSpPr/>
          <p:nvPr/>
        </p:nvSpPr>
        <p:spPr>
          <a:xfrm>
            <a:off x="274320" y="2560320"/>
            <a:ext cx="5715000" cy="1188720"/>
          </a:xfrm>
          <a:prstGeom prst="rect">
            <a:avLst/>
          </a:prstGeom>
          <a:solidFill>
            <a:srgbClr val="101E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274320" y="2560320"/>
            <a:ext cx="54864" cy="1188720"/>
          </a:xfrm>
          <a:prstGeom prst="rect">
            <a:avLst/>
          </a:prstGeom>
          <a:solidFill>
            <a:srgbClr val="06D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57200" y="2633472"/>
            <a:ext cx="5394960" cy="347472"/>
          </a:xfrm>
          <a:prstGeom prst="rect">
            <a:avLst/>
          </a:prstGeom>
          <a:noFill/>
        </p:spPr>
        <p:txBody>
          <a:bodyPr wrap="square">
            <a:spAutoFit/>
          </a:bodyPr>
          <a:lstStyle/>
          <a:p>
            <a:pPr algn="l"/>
            <a:r>
              <a:rPr sz="1300" b="1" i="0">
                <a:solidFill>
                  <a:srgbClr val="06D6A0"/>
                </a:solidFill>
              </a:rPr>
              <a:t>Autonomous Robot Integration</a:t>
            </a:r>
          </a:p>
        </p:txBody>
      </p:sp>
      <p:sp>
        <p:nvSpPr>
          <p:cNvPr id="18" name="TextBox 17"/>
          <p:cNvSpPr txBox="1"/>
          <p:nvPr/>
        </p:nvSpPr>
        <p:spPr>
          <a:xfrm>
            <a:off x="457200" y="2999232"/>
            <a:ext cx="5394960" cy="731520"/>
          </a:xfrm>
          <a:prstGeom prst="rect">
            <a:avLst/>
          </a:prstGeom>
          <a:noFill/>
        </p:spPr>
        <p:txBody>
          <a:bodyPr wrap="square">
            <a:spAutoFit/>
          </a:bodyPr>
          <a:lstStyle/>
          <a:p>
            <a:pPr algn="l"/>
            <a:r>
              <a:rPr sz="1100" b="0" i="0">
                <a:solidFill>
                  <a:srgbClr val="CCD6E0"/>
                </a:solidFill>
              </a:rPr>
              <a:t>Connect AGV/AMR fleet via MQTT; system publishes move commands directly to robots, eliminating manual pallet transport.</a:t>
            </a:r>
          </a:p>
        </p:txBody>
      </p:sp>
      <p:sp>
        <p:nvSpPr>
          <p:cNvPr id="19" name="Rectangle 18"/>
          <p:cNvSpPr/>
          <p:nvPr/>
        </p:nvSpPr>
        <p:spPr>
          <a:xfrm>
            <a:off x="6263640" y="2560320"/>
            <a:ext cx="5715000" cy="1188720"/>
          </a:xfrm>
          <a:prstGeom prst="rect">
            <a:avLst/>
          </a:prstGeom>
          <a:solidFill>
            <a:srgbClr val="101E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263640" y="2560320"/>
            <a:ext cx="54864" cy="1188720"/>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46520" y="2633472"/>
            <a:ext cx="5394960" cy="347472"/>
          </a:xfrm>
          <a:prstGeom prst="rect">
            <a:avLst/>
          </a:prstGeom>
          <a:noFill/>
        </p:spPr>
        <p:txBody>
          <a:bodyPr wrap="square">
            <a:spAutoFit/>
          </a:bodyPr>
          <a:lstStyle/>
          <a:p>
            <a:pPr algn="l"/>
            <a:r>
              <a:rPr sz="1300" b="1" i="0">
                <a:solidFill>
                  <a:srgbClr val="FF6B6B"/>
                </a:solidFill>
              </a:rPr>
              <a:t>Multi-Warehouse Federation</a:t>
            </a:r>
          </a:p>
        </p:txBody>
      </p:sp>
      <p:sp>
        <p:nvSpPr>
          <p:cNvPr id="22" name="TextBox 21"/>
          <p:cNvSpPr txBox="1"/>
          <p:nvPr/>
        </p:nvSpPr>
        <p:spPr>
          <a:xfrm>
            <a:off x="6446520" y="2999232"/>
            <a:ext cx="5394960" cy="731520"/>
          </a:xfrm>
          <a:prstGeom prst="rect">
            <a:avLst/>
          </a:prstGeom>
          <a:noFill/>
        </p:spPr>
        <p:txBody>
          <a:bodyPr wrap="square">
            <a:spAutoFit/>
          </a:bodyPr>
          <a:lstStyle/>
          <a:p>
            <a:pPr algn="l"/>
            <a:r>
              <a:rPr sz="1100" b="0" i="0">
                <a:solidFill>
                  <a:srgbClr val="CCD6E0"/>
                </a:solidFill>
              </a:rPr>
              <a:t>Extend to a hub-spoke network; pallets can be re-routed across warehouses in the Tamil Nadu logistics corridor dynamically.</a:t>
            </a:r>
          </a:p>
        </p:txBody>
      </p:sp>
      <p:sp>
        <p:nvSpPr>
          <p:cNvPr id="23" name="Rectangle 22"/>
          <p:cNvSpPr/>
          <p:nvPr/>
        </p:nvSpPr>
        <p:spPr>
          <a:xfrm>
            <a:off x="274320" y="3931920"/>
            <a:ext cx="5715000" cy="1188720"/>
          </a:xfrm>
          <a:prstGeom prst="rect">
            <a:avLst/>
          </a:prstGeom>
          <a:solidFill>
            <a:srgbClr val="101E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274320" y="3931920"/>
            <a:ext cx="54864" cy="1188720"/>
          </a:xfrm>
          <a:prstGeom prst="rect">
            <a:avLst/>
          </a:prstGeom>
          <a:solidFill>
            <a:srgbClr val="90E0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57200" y="4005072"/>
            <a:ext cx="5394960" cy="347472"/>
          </a:xfrm>
          <a:prstGeom prst="rect">
            <a:avLst/>
          </a:prstGeom>
          <a:noFill/>
        </p:spPr>
        <p:txBody>
          <a:bodyPr wrap="square">
            <a:spAutoFit/>
          </a:bodyPr>
          <a:lstStyle/>
          <a:p>
            <a:pPr algn="l"/>
            <a:r>
              <a:rPr sz="1300" b="1" i="0">
                <a:solidFill>
                  <a:srgbClr val="90E0EF"/>
                </a:solidFill>
              </a:rPr>
              <a:t>RFID &amp; IoT Sensor Layer</a:t>
            </a:r>
          </a:p>
        </p:txBody>
      </p:sp>
      <p:sp>
        <p:nvSpPr>
          <p:cNvPr id="26" name="TextBox 25"/>
          <p:cNvSpPr txBox="1"/>
          <p:nvPr/>
        </p:nvSpPr>
        <p:spPr>
          <a:xfrm>
            <a:off x="457200" y="4370831"/>
            <a:ext cx="5394960" cy="731520"/>
          </a:xfrm>
          <a:prstGeom prst="rect">
            <a:avLst/>
          </a:prstGeom>
          <a:noFill/>
        </p:spPr>
        <p:txBody>
          <a:bodyPr wrap="square">
            <a:spAutoFit/>
          </a:bodyPr>
          <a:lstStyle/>
          <a:p>
            <a:pPr algn="l"/>
            <a:r>
              <a:rPr sz="1100" b="0" i="0">
                <a:solidFill>
                  <a:srgbClr val="CCD6E0"/>
                </a:solidFill>
              </a:rPr>
              <a:t>Replace QR codes with passive RFID tags for hands-free, continuous location tracking; integrate temperature/humidity IoT sensors for cold-chain products.</a:t>
            </a:r>
          </a:p>
        </p:txBody>
      </p:sp>
      <p:sp>
        <p:nvSpPr>
          <p:cNvPr id="27" name="Rectangle 26"/>
          <p:cNvSpPr/>
          <p:nvPr/>
        </p:nvSpPr>
        <p:spPr>
          <a:xfrm>
            <a:off x="6263640" y="3931920"/>
            <a:ext cx="5715000" cy="1188720"/>
          </a:xfrm>
          <a:prstGeom prst="rect">
            <a:avLst/>
          </a:prstGeom>
          <a:solidFill>
            <a:srgbClr val="101E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263640" y="3931920"/>
            <a:ext cx="54864" cy="1188720"/>
          </a:xfrm>
          <a:prstGeom prst="rect">
            <a:avLst/>
          </a:prstGeom>
          <a:solidFill>
            <a:srgbClr val="A8D8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446520" y="4005072"/>
            <a:ext cx="5394960" cy="347472"/>
          </a:xfrm>
          <a:prstGeom prst="rect">
            <a:avLst/>
          </a:prstGeom>
          <a:noFill/>
        </p:spPr>
        <p:txBody>
          <a:bodyPr wrap="square">
            <a:spAutoFit/>
          </a:bodyPr>
          <a:lstStyle/>
          <a:p>
            <a:pPr algn="l"/>
            <a:r>
              <a:rPr sz="1300" b="1" i="0">
                <a:solidFill>
                  <a:srgbClr val="A8D8EA"/>
                </a:solidFill>
              </a:rPr>
              <a:t>Cloud Deployment &amp; CI/CD</a:t>
            </a:r>
          </a:p>
        </p:txBody>
      </p:sp>
      <p:sp>
        <p:nvSpPr>
          <p:cNvPr id="30" name="TextBox 29"/>
          <p:cNvSpPr txBox="1"/>
          <p:nvPr/>
        </p:nvSpPr>
        <p:spPr>
          <a:xfrm>
            <a:off x="6446520" y="4370831"/>
            <a:ext cx="5394960" cy="731520"/>
          </a:xfrm>
          <a:prstGeom prst="rect">
            <a:avLst/>
          </a:prstGeom>
          <a:noFill/>
        </p:spPr>
        <p:txBody>
          <a:bodyPr wrap="square">
            <a:spAutoFit/>
          </a:bodyPr>
          <a:lstStyle/>
          <a:p>
            <a:pPr algn="l"/>
            <a:r>
              <a:rPr sz="1100" b="0" i="0">
                <a:solidFill>
                  <a:srgbClr val="CCD6E0"/>
                </a:solidFill>
              </a:rPr>
              <a:t>Containerise with Docker Compose; deploy to AWS/GCP with GitHub Actions pipeline, zero-downtime blue-green deploys.</a:t>
            </a:r>
          </a:p>
        </p:txBody>
      </p:sp>
      <p:sp>
        <p:nvSpPr>
          <p:cNvPr id="31" name="Rectangle 30"/>
          <p:cNvSpPr/>
          <p:nvPr/>
        </p:nvSpPr>
        <p:spPr>
          <a:xfrm>
            <a:off x="274320" y="5303520"/>
            <a:ext cx="5715000" cy="1188720"/>
          </a:xfrm>
          <a:prstGeom prst="rect">
            <a:avLst/>
          </a:prstGeom>
          <a:solidFill>
            <a:srgbClr val="101E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274320" y="5303520"/>
            <a:ext cx="54864" cy="1188720"/>
          </a:xfrm>
          <a:prstGeom prst="rect">
            <a:avLst/>
          </a:prstGeom>
          <a:solidFill>
            <a:srgbClr val="FFD1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57200" y="5376672"/>
            <a:ext cx="5394960" cy="347472"/>
          </a:xfrm>
          <a:prstGeom prst="rect">
            <a:avLst/>
          </a:prstGeom>
          <a:noFill/>
        </p:spPr>
        <p:txBody>
          <a:bodyPr wrap="square">
            <a:spAutoFit/>
          </a:bodyPr>
          <a:lstStyle/>
          <a:p>
            <a:pPr algn="l"/>
            <a:r>
              <a:rPr sz="1300" b="1" i="0">
                <a:solidFill>
                  <a:srgbClr val="FFD166"/>
                </a:solidFill>
              </a:rPr>
              <a:t>Blockchain Audit Trail</a:t>
            </a:r>
          </a:p>
        </p:txBody>
      </p:sp>
      <p:sp>
        <p:nvSpPr>
          <p:cNvPr id="34" name="TextBox 33"/>
          <p:cNvSpPr txBox="1"/>
          <p:nvPr/>
        </p:nvSpPr>
        <p:spPr>
          <a:xfrm>
            <a:off x="457200" y="5742431"/>
            <a:ext cx="5394960" cy="731520"/>
          </a:xfrm>
          <a:prstGeom prst="rect">
            <a:avLst/>
          </a:prstGeom>
          <a:noFill/>
        </p:spPr>
        <p:txBody>
          <a:bodyPr wrap="square">
            <a:spAutoFit/>
          </a:bodyPr>
          <a:lstStyle/>
          <a:p>
            <a:pPr algn="l"/>
            <a:r>
              <a:rPr sz="1100" b="0" i="0">
                <a:solidFill>
                  <a:srgbClr val="CCD6E0"/>
                </a:solidFill>
              </a:rPr>
              <a:t>Record departure manifests on a permissioned blockchain (Hyperledger Fabric) for tamper-proof chain-of-custody evidence.</a:t>
            </a:r>
          </a:p>
        </p:txBody>
      </p:sp>
      <p:sp>
        <p:nvSpPr>
          <p:cNvPr id="35" name="Rectangle 34"/>
          <p:cNvSpPr/>
          <p:nvPr/>
        </p:nvSpPr>
        <p:spPr>
          <a:xfrm>
            <a:off x="6263640" y="5303520"/>
            <a:ext cx="5715000" cy="1188720"/>
          </a:xfrm>
          <a:prstGeom prst="rect">
            <a:avLst/>
          </a:prstGeom>
          <a:solidFill>
            <a:srgbClr val="101E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6263640" y="5303520"/>
            <a:ext cx="54864" cy="1188720"/>
          </a:xfrm>
          <a:prstGeom prst="rect">
            <a:avLst/>
          </a:prstGeom>
          <a:solidFill>
            <a:srgbClr val="06D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446520" y="5376672"/>
            <a:ext cx="5394960" cy="347472"/>
          </a:xfrm>
          <a:prstGeom prst="rect">
            <a:avLst/>
          </a:prstGeom>
          <a:noFill/>
        </p:spPr>
        <p:txBody>
          <a:bodyPr wrap="square">
            <a:spAutoFit/>
          </a:bodyPr>
          <a:lstStyle/>
          <a:p>
            <a:pPr algn="l"/>
            <a:r>
              <a:rPr sz="1300" b="1" i="0">
                <a:solidFill>
                  <a:srgbClr val="06D6A0"/>
                </a:solidFill>
              </a:rPr>
              <a:t>Voice-Guided Task Interface</a:t>
            </a:r>
          </a:p>
        </p:txBody>
      </p:sp>
      <p:sp>
        <p:nvSpPr>
          <p:cNvPr id="38" name="TextBox 37"/>
          <p:cNvSpPr txBox="1"/>
          <p:nvPr/>
        </p:nvSpPr>
        <p:spPr>
          <a:xfrm>
            <a:off x="6446520" y="5742431"/>
            <a:ext cx="5394960" cy="731520"/>
          </a:xfrm>
          <a:prstGeom prst="rect">
            <a:avLst/>
          </a:prstGeom>
          <a:noFill/>
        </p:spPr>
        <p:txBody>
          <a:bodyPr wrap="square">
            <a:spAutoFit/>
          </a:bodyPr>
          <a:lstStyle/>
          <a:p>
            <a:pPr algn="l"/>
            <a:r>
              <a:rPr sz="1100" b="0" i="0">
                <a:solidFill>
                  <a:srgbClr val="CCD6E0"/>
                </a:solidFill>
              </a:rPr>
              <a:t>Text-to-speech task instructions via warehouse Bluetooth headsets; voice confirmation triggers task completion without touching device.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51560"/>
          </a:xfrm>
          <a:prstGeom prst="rect">
            <a:avLst/>
          </a:prstGeom>
          <a:solidFill>
            <a:srgbClr val="1626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24128"/>
            <a:ext cx="12188952" cy="457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73152"/>
            <a:ext cx="11430000" cy="640080"/>
          </a:xfrm>
          <a:prstGeom prst="rect">
            <a:avLst/>
          </a:prstGeom>
          <a:noFill/>
        </p:spPr>
        <p:txBody>
          <a:bodyPr wrap="square">
            <a:spAutoFit/>
          </a:bodyPr>
          <a:lstStyle/>
          <a:p>
            <a:pPr algn="l"/>
            <a:r>
              <a:rPr sz="2800" b="1" i="0">
                <a:solidFill>
                  <a:srgbClr val="00B4D8"/>
                </a:solidFill>
              </a:rPr>
              <a:t>Conclusion</a:t>
            </a:r>
          </a:p>
        </p:txBody>
      </p:sp>
      <p:sp>
        <p:nvSpPr>
          <p:cNvPr id="6" name="TextBox 5"/>
          <p:cNvSpPr txBox="1"/>
          <p:nvPr/>
        </p:nvSpPr>
        <p:spPr>
          <a:xfrm>
            <a:off x="365760" y="658368"/>
            <a:ext cx="11430000" cy="347472"/>
          </a:xfrm>
          <a:prstGeom prst="rect">
            <a:avLst/>
          </a:prstGeom>
          <a:noFill/>
        </p:spPr>
        <p:txBody>
          <a:bodyPr wrap="square">
            <a:spAutoFit/>
          </a:bodyPr>
          <a:lstStyle/>
          <a:p>
            <a:pPr algn="l"/>
            <a:r>
              <a:rPr sz="1300" b="0" i="1">
                <a:solidFill>
                  <a:srgbClr val="A8D8EA"/>
                </a:solidFill>
              </a:rPr>
              <a:t>Summary of outcomes and impact of the Smart Warehouse Management System</a:t>
            </a:r>
          </a:p>
        </p:txBody>
      </p:sp>
      <p:sp>
        <p:nvSpPr>
          <p:cNvPr id="7" name="TextBox 6"/>
          <p:cNvSpPr txBox="1"/>
          <p:nvPr/>
        </p:nvSpPr>
        <p:spPr>
          <a:xfrm>
            <a:off x="457200" y="1188720"/>
            <a:ext cx="7498079" cy="5303520"/>
          </a:xfrm>
          <a:prstGeom prst="rect">
            <a:avLst/>
          </a:prstGeom>
          <a:noFill/>
        </p:spPr>
        <p:txBody>
          <a:bodyPr wrap="square">
            <a:spAutoFit/>
          </a:bodyPr>
          <a:lstStyle/>
          <a:p>
            <a:r>
              <a:rPr sz="1300">
                <a:solidFill>
                  <a:srgbClr val="CCD6E0"/>
                </a:solidFill>
              </a:rPr>
              <a:t>The Smart Warehouse Management System successfully demonstrates that a modern, full-stack warehouse platform — built entirely with open-source technologies — can replicate and surpass the core capabilities of expensive commercial WMS solutions.
By combining a rule-based, multi-factor optimisation engine with real-time SSE task dispatch and QR-code-driven verification, the system eliminates the three primary pain points identified in our problem statement: manual pallet mis-placement, inefficient task dispatch, and missed departure deadlines.
The platform has been validated with realistic Tamil Nadu logistics data — TN-registered trucks, regional destinations (Chennai, Coimbatore, Madurai, Trichy, Salem, Tirunelveli, Erode, Pondicherry), and locally relevant products (Ponni Rice, Kancheepuram Silk, Tirupur Cotton, Auto Parts) — confirming its applicability in a South Indian supply-chain context.
Future work will extend the system toward full autonomy through mobile applications, AGV integration, RFID tracking, and machine-learning-driven demand forecasting, moving SWMS from a demonstration prototype toward a production-grade, industry-deployable solution.</a:t>
            </a:r>
          </a:p>
        </p:txBody>
      </p:sp>
      <p:sp>
        <p:nvSpPr>
          <p:cNvPr id="8" name="Rectangle 7"/>
          <p:cNvSpPr/>
          <p:nvPr/>
        </p:nvSpPr>
        <p:spPr>
          <a:xfrm>
            <a:off x="8229600" y="1188720"/>
            <a:ext cx="3685032" cy="5303520"/>
          </a:xfrm>
          <a:prstGeom prst="rect">
            <a:avLst/>
          </a:prstGeom>
          <a:solidFill>
            <a:srgbClr val="0A14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366760" y="1261872"/>
            <a:ext cx="3383280" cy="411480"/>
          </a:xfrm>
          <a:prstGeom prst="rect">
            <a:avLst/>
          </a:prstGeom>
          <a:noFill/>
        </p:spPr>
        <p:txBody>
          <a:bodyPr wrap="square">
            <a:spAutoFit/>
          </a:bodyPr>
          <a:lstStyle/>
          <a:p>
            <a:pPr algn="l"/>
            <a:r>
              <a:rPr sz="1400" b="1" i="0">
                <a:solidFill>
                  <a:srgbClr val="00B4D8"/>
                </a:solidFill>
              </a:rPr>
              <a:t>Key Achievements</a:t>
            </a:r>
          </a:p>
        </p:txBody>
      </p:sp>
      <p:sp>
        <p:nvSpPr>
          <p:cNvPr id="10" name="Rectangle 9"/>
          <p:cNvSpPr/>
          <p:nvPr/>
        </p:nvSpPr>
        <p:spPr>
          <a:xfrm>
            <a:off x="8366760" y="1755648"/>
            <a:ext cx="3383280" cy="475488"/>
          </a:xfrm>
          <a:prstGeom prst="rect">
            <a:avLst/>
          </a:prstGeom>
          <a:solidFill>
            <a:srgbClr val="1426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412480" y="1801368"/>
            <a:ext cx="640080" cy="384048"/>
          </a:xfrm>
          <a:prstGeom prst="rect">
            <a:avLst/>
          </a:prstGeom>
          <a:noFill/>
        </p:spPr>
        <p:txBody>
          <a:bodyPr wrap="square">
            <a:spAutoFit/>
          </a:bodyPr>
          <a:lstStyle/>
          <a:p>
            <a:pPr algn="ctr"/>
            <a:r>
              <a:rPr sz="1800" b="1" i="0">
                <a:solidFill>
                  <a:srgbClr val="00B4D8"/>
                </a:solidFill>
              </a:rPr>
              <a:t>16</a:t>
            </a:r>
          </a:p>
        </p:txBody>
      </p:sp>
      <p:sp>
        <p:nvSpPr>
          <p:cNvPr id="12" name="TextBox 11"/>
          <p:cNvSpPr txBox="1"/>
          <p:nvPr/>
        </p:nvSpPr>
        <p:spPr>
          <a:xfrm>
            <a:off x="9098280" y="1847088"/>
            <a:ext cx="2560320" cy="320040"/>
          </a:xfrm>
          <a:prstGeom prst="rect">
            <a:avLst/>
          </a:prstGeom>
          <a:noFill/>
        </p:spPr>
        <p:txBody>
          <a:bodyPr wrap="square">
            <a:spAutoFit/>
          </a:bodyPr>
          <a:lstStyle/>
          <a:p>
            <a:pPr algn="l"/>
            <a:r>
              <a:rPr sz="1200" b="0" i="0">
                <a:solidFill>
                  <a:srgbClr val="CCD6E0"/>
                </a:solidFill>
              </a:rPr>
              <a:t>API Endpoints</a:t>
            </a:r>
          </a:p>
        </p:txBody>
      </p:sp>
      <p:sp>
        <p:nvSpPr>
          <p:cNvPr id="13" name="Rectangle 12"/>
          <p:cNvSpPr/>
          <p:nvPr/>
        </p:nvSpPr>
        <p:spPr>
          <a:xfrm>
            <a:off x="8366760" y="2322576"/>
            <a:ext cx="3383280" cy="475488"/>
          </a:xfrm>
          <a:prstGeom prst="rect">
            <a:avLst/>
          </a:prstGeom>
          <a:solidFill>
            <a:srgbClr val="1426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412480" y="2368296"/>
            <a:ext cx="640080" cy="384048"/>
          </a:xfrm>
          <a:prstGeom prst="rect">
            <a:avLst/>
          </a:prstGeom>
          <a:noFill/>
        </p:spPr>
        <p:txBody>
          <a:bodyPr wrap="square">
            <a:spAutoFit/>
          </a:bodyPr>
          <a:lstStyle/>
          <a:p>
            <a:pPr algn="ctr"/>
            <a:r>
              <a:rPr sz="1800" b="1" i="0">
                <a:solidFill>
                  <a:srgbClr val="FFD166"/>
                </a:solidFill>
              </a:rPr>
              <a:t>18</a:t>
            </a:r>
          </a:p>
        </p:txBody>
      </p:sp>
      <p:sp>
        <p:nvSpPr>
          <p:cNvPr id="15" name="TextBox 14"/>
          <p:cNvSpPr txBox="1"/>
          <p:nvPr/>
        </p:nvSpPr>
        <p:spPr>
          <a:xfrm>
            <a:off x="9098280" y="2414016"/>
            <a:ext cx="2560320" cy="320040"/>
          </a:xfrm>
          <a:prstGeom prst="rect">
            <a:avLst/>
          </a:prstGeom>
          <a:noFill/>
        </p:spPr>
        <p:txBody>
          <a:bodyPr wrap="square">
            <a:spAutoFit/>
          </a:bodyPr>
          <a:lstStyle/>
          <a:p>
            <a:pPr algn="l"/>
            <a:r>
              <a:rPr sz="1200" b="0" i="0">
                <a:solidFill>
                  <a:srgbClr val="CCD6E0"/>
                </a:solidFill>
              </a:rPr>
              <a:t>Frontend Components</a:t>
            </a:r>
          </a:p>
        </p:txBody>
      </p:sp>
      <p:sp>
        <p:nvSpPr>
          <p:cNvPr id="16" name="Rectangle 15"/>
          <p:cNvSpPr/>
          <p:nvPr/>
        </p:nvSpPr>
        <p:spPr>
          <a:xfrm>
            <a:off x="8366760" y="2889504"/>
            <a:ext cx="3383280" cy="475488"/>
          </a:xfrm>
          <a:prstGeom prst="rect">
            <a:avLst/>
          </a:prstGeom>
          <a:solidFill>
            <a:srgbClr val="1426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412480" y="2935224"/>
            <a:ext cx="640080" cy="384048"/>
          </a:xfrm>
          <a:prstGeom prst="rect">
            <a:avLst/>
          </a:prstGeom>
          <a:noFill/>
        </p:spPr>
        <p:txBody>
          <a:bodyPr wrap="square">
            <a:spAutoFit/>
          </a:bodyPr>
          <a:lstStyle/>
          <a:p>
            <a:pPr algn="ctr"/>
            <a:r>
              <a:rPr sz="1800" b="1" i="0">
                <a:solidFill>
                  <a:srgbClr val="06D6A0"/>
                </a:solidFill>
              </a:rPr>
              <a:t>13</a:t>
            </a:r>
          </a:p>
        </p:txBody>
      </p:sp>
      <p:sp>
        <p:nvSpPr>
          <p:cNvPr id="18" name="TextBox 17"/>
          <p:cNvSpPr txBox="1"/>
          <p:nvPr/>
        </p:nvSpPr>
        <p:spPr>
          <a:xfrm>
            <a:off x="9098280" y="2980944"/>
            <a:ext cx="2560320" cy="320040"/>
          </a:xfrm>
          <a:prstGeom prst="rect">
            <a:avLst/>
          </a:prstGeom>
          <a:noFill/>
        </p:spPr>
        <p:txBody>
          <a:bodyPr wrap="square">
            <a:spAutoFit/>
          </a:bodyPr>
          <a:lstStyle/>
          <a:p>
            <a:pPr algn="l"/>
            <a:r>
              <a:rPr sz="1200" b="0" i="0">
                <a:solidFill>
                  <a:srgbClr val="CCD6E0"/>
                </a:solidFill>
              </a:rPr>
              <a:t>DB Tables</a:t>
            </a:r>
          </a:p>
        </p:txBody>
      </p:sp>
      <p:sp>
        <p:nvSpPr>
          <p:cNvPr id="19" name="Rectangle 18"/>
          <p:cNvSpPr/>
          <p:nvPr/>
        </p:nvSpPr>
        <p:spPr>
          <a:xfrm>
            <a:off x="8366760" y="3456432"/>
            <a:ext cx="3383280" cy="475488"/>
          </a:xfrm>
          <a:prstGeom prst="rect">
            <a:avLst/>
          </a:prstGeom>
          <a:solidFill>
            <a:srgbClr val="1426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412480" y="3502151"/>
            <a:ext cx="640080" cy="384048"/>
          </a:xfrm>
          <a:prstGeom prst="rect">
            <a:avLst/>
          </a:prstGeom>
          <a:noFill/>
        </p:spPr>
        <p:txBody>
          <a:bodyPr wrap="square">
            <a:spAutoFit/>
          </a:bodyPr>
          <a:lstStyle/>
          <a:p>
            <a:pPr algn="ctr"/>
            <a:r>
              <a:rPr sz="1800" b="1" i="0">
                <a:solidFill>
                  <a:srgbClr val="FF6B6B"/>
                </a:solidFill>
              </a:rPr>
              <a:t>5</a:t>
            </a:r>
          </a:p>
        </p:txBody>
      </p:sp>
      <p:sp>
        <p:nvSpPr>
          <p:cNvPr id="21" name="TextBox 20"/>
          <p:cNvSpPr txBox="1"/>
          <p:nvPr/>
        </p:nvSpPr>
        <p:spPr>
          <a:xfrm>
            <a:off x="9098280" y="3547872"/>
            <a:ext cx="2560320" cy="320040"/>
          </a:xfrm>
          <a:prstGeom prst="rect">
            <a:avLst/>
          </a:prstGeom>
          <a:noFill/>
        </p:spPr>
        <p:txBody>
          <a:bodyPr wrap="square">
            <a:spAutoFit/>
          </a:bodyPr>
          <a:lstStyle/>
          <a:p>
            <a:pPr algn="l"/>
            <a:r>
              <a:rPr sz="1200" b="0" i="0">
                <a:solidFill>
                  <a:srgbClr val="CCD6E0"/>
                </a:solidFill>
              </a:rPr>
              <a:t>Optimiser Factors</a:t>
            </a:r>
          </a:p>
        </p:txBody>
      </p:sp>
      <p:sp>
        <p:nvSpPr>
          <p:cNvPr id="22" name="Rectangle 21"/>
          <p:cNvSpPr/>
          <p:nvPr/>
        </p:nvSpPr>
        <p:spPr>
          <a:xfrm>
            <a:off x="8366760" y="4023360"/>
            <a:ext cx="3383280" cy="475488"/>
          </a:xfrm>
          <a:prstGeom prst="rect">
            <a:avLst/>
          </a:prstGeom>
          <a:solidFill>
            <a:srgbClr val="1426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412480" y="4069080"/>
            <a:ext cx="640080" cy="384048"/>
          </a:xfrm>
          <a:prstGeom prst="rect">
            <a:avLst/>
          </a:prstGeom>
          <a:noFill/>
        </p:spPr>
        <p:txBody>
          <a:bodyPr wrap="square">
            <a:spAutoFit/>
          </a:bodyPr>
          <a:lstStyle/>
          <a:p>
            <a:pPr algn="ctr"/>
            <a:r>
              <a:rPr sz="1800" b="1" i="0">
                <a:solidFill>
                  <a:srgbClr val="90E0EF"/>
                </a:solidFill>
              </a:rPr>
              <a:t>3</a:t>
            </a:r>
          </a:p>
        </p:txBody>
      </p:sp>
      <p:sp>
        <p:nvSpPr>
          <p:cNvPr id="24" name="TextBox 23"/>
          <p:cNvSpPr txBox="1"/>
          <p:nvPr/>
        </p:nvSpPr>
        <p:spPr>
          <a:xfrm>
            <a:off x="9098280" y="4114800"/>
            <a:ext cx="2560320" cy="320040"/>
          </a:xfrm>
          <a:prstGeom prst="rect">
            <a:avLst/>
          </a:prstGeom>
          <a:noFill/>
        </p:spPr>
        <p:txBody>
          <a:bodyPr wrap="square">
            <a:spAutoFit/>
          </a:bodyPr>
          <a:lstStyle/>
          <a:p>
            <a:pPr algn="l"/>
            <a:r>
              <a:rPr sz="1200" b="0" i="0">
                <a:solidFill>
                  <a:srgbClr val="CCD6E0"/>
                </a:solidFill>
              </a:rPr>
              <a:t>Roles / Access Levels</a:t>
            </a:r>
          </a:p>
        </p:txBody>
      </p:sp>
      <p:sp>
        <p:nvSpPr>
          <p:cNvPr id="25" name="Rectangle 24"/>
          <p:cNvSpPr/>
          <p:nvPr/>
        </p:nvSpPr>
        <p:spPr>
          <a:xfrm>
            <a:off x="8366760" y="4590288"/>
            <a:ext cx="3383280" cy="475488"/>
          </a:xfrm>
          <a:prstGeom prst="rect">
            <a:avLst/>
          </a:prstGeom>
          <a:solidFill>
            <a:srgbClr val="1426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412480" y="4636007"/>
            <a:ext cx="640080" cy="384048"/>
          </a:xfrm>
          <a:prstGeom prst="rect">
            <a:avLst/>
          </a:prstGeom>
          <a:noFill/>
        </p:spPr>
        <p:txBody>
          <a:bodyPr wrap="square">
            <a:spAutoFit/>
          </a:bodyPr>
          <a:lstStyle/>
          <a:p>
            <a:pPr algn="ctr"/>
            <a:r>
              <a:rPr sz="1800" b="1" i="0">
                <a:solidFill>
                  <a:srgbClr val="A8D8EA"/>
                </a:solidFill>
              </a:rPr>
              <a:t>12</a:t>
            </a:r>
          </a:p>
        </p:txBody>
      </p:sp>
      <p:sp>
        <p:nvSpPr>
          <p:cNvPr id="27" name="TextBox 26"/>
          <p:cNvSpPr txBox="1"/>
          <p:nvPr/>
        </p:nvSpPr>
        <p:spPr>
          <a:xfrm>
            <a:off x="9098280" y="4681727"/>
            <a:ext cx="2560320" cy="320040"/>
          </a:xfrm>
          <a:prstGeom prst="rect">
            <a:avLst/>
          </a:prstGeom>
          <a:noFill/>
        </p:spPr>
        <p:txBody>
          <a:bodyPr wrap="square">
            <a:spAutoFit/>
          </a:bodyPr>
          <a:lstStyle/>
          <a:p>
            <a:pPr algn="l"/>
            <a:r>
              <a:rPr sz="1200" b="0" i="0">
                <a:solidFill>
                  <a:srgbClr val="CCD6E0"/>
                </a:solidFill>
              </a:rPr>
              <a:t>Pallets Tracked</a:t>
            </a:r>
          </a:p>
        </p:txBody>
      </p:sp>
      <p:sp>
        <p:nvSpPr>
          <p:cNvPr id="28" name="Rectangle 27"/>
          <p:cNvSpPr/>
          <p:nvPr/>
        </p:nvSpPr>
        <p:spPr>
          <a:xfrm>
            <a:off x="8366760" y="5157216"/>
            <a:ext cx="3383280" cy="475488"/>
          </a:xfrm>
          <a:prstGeom prst="rect">
            <a:avLst/>
          </a:prstGeom>
          <a:solidFill>
            <a:srgbClr val="1426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412480" y="5202936"/>
            <a:ext cx="640080" cy="384048"/>
          </a:xfrm>
          <a:prstGeom prst="rect">
            <a:avLst/>
          </a:prstGeom>
          <a:noFill/>
        </p:spPr>
        <p:txBody>
          <a:bodyPr wrap="square">
            <a:spAutoFit/>
          </a:bodyPr>
          <a:lstStyle/>
          <a:p>
            <a:pPr algn="ctr"/>
            <a:r>
              <a:rPr sz="1800" b="1" i="0">
                <a:solidFill>
                  <a:srgbClr val="FFD166"/>
                </a:solidFill>
              </a:rPr>
              <a:t>5+5</a:t>
            </a:r>
          </a:p>
        </p:txBody>
      </p:sp>
      <p:sp>
        <p:nvSpPr>
          <p:cNvPr id="30" name="TextBox 29"/>
          <p:cNvSpPr txBox="1"/>
          <p:nvPr/>
        </p:nvSpPr>
        <p:spPr>
          <a:xfrm>
            <a:off x="9098280" y="5248655"/>
            <a:ext cx="2560320" cy="320040"/>
          </a:xfrm>
          <a:prstGeom prst="rect">
            <a:avLst/>
          </a:prstGeom>
          <a:noFill/>
        </p:spPr>
        <p:txBody>
          <a:bodyPr wrap="square">
            <a:spAutoFit/>
          </a:bodyPr>
          <a:lstStyle/>
          <a:p>
            <a:pPr algn="l"/>
            <a:r>
              <a:rPr sz="1200" b="0" i="0">
                <a:solidFill>
                  <a:srgbClr val="CCD6E0"/>
                </a:solidFill>
              </a:rPr>
              <a:t>Trucks Seeded</a:t>
            </a:r>
          </a:p>
        </p:txBody>
      </p:sp>
      <p:sp>
        <p:nvSpPr>
          <p:cNvPr id="31" name="Rectangle 30"/>
          <p:cNvSpPr/>
          <p:nvPr/>
        </p:nvSpPr>
        <p:spPr>
          <a:xfrm>
            <a:off x="8366760" y="5724144"/>
            <a:ext cx="3383280" cy="475488"/>
          </a:xfrm>
          <a:prstGeom prst="rect">
            <a:avLst/>
          </a:prstGeom>
          <a:solidFill>
            <a:srgbClr val="1426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412480" y="5769864"/>
            <a:ext cx="640080" cy="384048"/>
          </a:xfrm>
          <a:prstGeom prst="rect">
            <a:avLst/>
          </a:prstGeom>
          <a:noFill/>
        </p:spPr>
        <p:txBody>
          <a:bodyPr wrap="square">
            <a:spAutoFit/>
          </a:bodyPr>
          <a:lstStyle/>
          <a:p>
            <a:pPr algn="ctr"/>
            <a:r>
              <a:rPr sz="1800" b="1" i="0">
                <a:solidFill>
                  <a:srgbClr val="06D6A0"/>
                </a:solidFill>
              </a:rPr>
              <a:t>8</a:t>
            </a:r>
          </a:p>
        </p:txBody>
      </p:sp>
      <p:sp>
        <p:nvSpPr>
          <p:cNvPr id="33" name="TextBox 32"/>
          <p:cNvSpPr txBox="1"/>
          <p:nvPr/>
        </p:nvSpPr>
        <p:spPr>
          <a:xfrm>
            <a:off x="9098280" y="5815583"/>
            <a:ext cx="2560320" cy="320040"/>
          </a:xfrm>
          <a:prstGeom prst="rect">
            <a:avLst/>
          </a:prstGeom>
          <a:noFill/>
        </p:spPr>
        <p:txBody>
          <a:bodyPr wrap="square">
            <a:spAutoFit/>
          </a:bodyPr>
          <a:lstStyle/>
          <a:p>
            <a:pPr algn="l"/>
            <a:r>
              <a:rPr sz="1200" b="0" i="0">
                <a:solidFill>
                  <a:srgbClr val="CCD6E0"/>
                </a:solidFill>
              </a:rPr>
              <a:t>TN Destinations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51560"/>
          </a:xfrm>
          <a:prstGeom prst="rect">
            <a:avLst/>
          </a:prstGeom>
          <a:solidFill>
            <a:srgbClr val="1626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24128"/>
            <a:ext cx="12188952" cy="457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73152"/>
            <a:ext cx="11430000" cy="640080"/>
          </a:xfrm>
          <a:prstGeom prst="rect">
            <a:avLst/>
          </a:prstGeom>
          <a:noFill/>
        </p:spPr>
        <p:txBody>
          <a:bodyPr wrap="square">
            <a:spAutoFit/>
          </a:bodyPr>
          <a:lstStyle/>
          <a:p>
            <a:pPr algn="l"/>
            <a:r>
              <a:rPr sz="2800" b="1" i="0">
                <a:solidFill>
                  <a:srgbClr val="00B4D8"/>
                </a:solidFill>
              </a:rPr>
              <a:t>References</a:t>
            </a:r>
          </a:p>
        </p:txBody>
      </p:sp>
      <p:sp>
        <p:nvSpPr>
          <p:cNvPr id="6" name="TextBox 5"/>
          <p:cNvSpPr txBox="1"/>
          <p:nvPr/>
        </p:nvSpPr>
        <p:spPr>
          <a:xfrm>
            <a:off x="365760" y="658368"/>
            <a:ext cx="11430000" cy="347472"/>
          </a:xfrm>
          <a:prstGeom prst="rect">
            <a:avLst/>
          </a:prstGeom>
          <a:noFill/>
        </p:spPr>
        <p:txBody>
          <a:bodyPr wrap="square">
            <a:spAutoFit/>
          </a:bodyPr>
          <a:lstStyle/>
          <a:p>
            <a:pPr algn="l"/>
            <a:r>
              <a:rPr sz="1300" b="0" i="1">
                <a:solidFill>
                  <a:srgbClr val="A8D8EA"/>
                </a:solidFill>
              </a:rPr>
              <a:t>Academic sources, documentation and frameworks cited in this project</a:t>
            </a:r>
          </a:p>
        </p:txBody>
      </p:sp>
      <p:sp>
        <p:nvSpPr>
          <p:cNvPr id="7" name="Rectangle 6"/>
          <p:cNvSpPr/>
          <p:nvPr/>
        </p:nvSpPr>
        <p:spPr>
          <a:xfrm>
            <a:off x="274320" y="1188720"/>
            <a:ext cx="502920" cy="438912"/>
          </a:xfrm>
          <a:prstGeom prst="rect">
            <a:avLst/>
          </a:prstGeom>
          <a:solidFill>
            <a:srgbClr val="005F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92608" y="1225296"/>
            <a:ext cx="466344" cy="347472"/>
          </a:xfrm>
          <a:prstGeom prst="rect">
            <a:avLst/>
          </a:prstGeom>
          <a:noFill/>
        </p:spPr>
        <p:txBody>
          <a:bodyPr wrap="square">
            <a:spAutoFit/>
          </a:bodyPr>
          <a:lstStyle/>
          <a:p>
            <a:pPr algn="ctr"/>
            <a:r>
              <a:rPr sz="1100" b="1" i="0">
                <a:solidFill>
                  <a:srgbClr val="FFFFFF"/>
                </a:solidFill>
              </a:rPr>
              <a:t>[1]</a:t>
            </a:r>
          </a:p>
        </p:txBody>
      </p:sp>
      <p:sp>
        <p:nvSpPr>
          <p:cNvPr id="9" name="TextBox 8"/>
          <p:cNvSpPr txBox="1"/>
          <p:nvPr/>
        </p:nvSpPr>
        <p:spPr>
          <a:xfrm>
            <a:off x="868680" y="1225296"/>
            <a:ext cx="11064240" cy="402336"/>
          </a:xfrm>
          <a:prstGeom prst="rect">
            <a:avLst/>
          </a:prstGeom>
          <a:noFill/>
        </p:spPr>
        <p:txBody>
          <a:bodyPr wrap="square">
            <a:spAutoFit/>
          </a:bodyPr>
          <a:lstStyle/>
          <a:p>
            <a:pPr algn="l"/>
            <a:r>
              <a:rPr sz="1100" b="0" i="0">
                <a:solidFill>
                  <a:srgbClr val="CCD6E0"/>
                </a:solidFill>
              </a:rPr>
              <a:t>Roodbergen, K. J., &amp; Vis, I. F. A. (2006). A survey of literature on automated storage and retrieval systems. European Journal of Operational Research, 194(2), 343–362.</a:t>
            </a:r>
          </a:p>
        </p:txBody>
      </p:sp>
      <p:sp>
        <p:nvSpPr>
          <p:cNvPr id="10" name="Rectangle 9"/>
          <p:cNvSpPr/>
          <p:nvPr/>
        </p:nvSpPr>
        <p:spPr>
          <a:xfrm>
            <a:off x="274320" y="1719072"/>
            <a:ext cx="502920" cy="438912"/>
          </a:xfrm>
          <a:prstGeom prst="rect">
            <a:avLst/>
          </a:prstGeom>
          <a:solidFill>
            <a:srgbClr val="005F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92608" y="1755648"/>
            <a:ext cx="466344" cy="347472"/>
          </a:xfrm>
          <a:prstGeom prst="rect">
            <a:avLst/>
          </a:prstGeom>
          <a:noFill/>
        </p:spPr>
        <p:txBody>
          <a:bodyPr wrap="square">
            <a:spAutoFit/>
          </a:bodyPr>
          <a:lstStyle/>
          <a:p>
            <a:pPr algn="ctr"/>
            <a:r>
              <a:rPr sz="1100" b="1" i="0">
                <a:solidFill>
                  <a:srgbClr val="FFFFFF"/>
                </a:solidFill>
              </a:rPr>
              <a:t>[2]</a:t>
            </a:r>
          </a:p>
        </p:txBody>
      </p:sp>
      <p:sp>
        <p:nvSpPr>
          <p:cNvPr id="12" name="TextBox 11"/>
          <p:cNvSpPr txBox="1"/>
          <p:nvPr/>
        </p:nvSpPr>
        <p:spPr>
          <a:xfrm>
            <a:off x="868680" y="1755648"/>
            <a:ext cx="11064240" cy="402336"/>
          </a:xfrm>
          <a:prstGeom prst="rect">
            <a:avLst/>
          </a:prstGeom>
          <a:noFill/>
        </p:spPr>
        <p:txBody>
          <a:bodyPr wrap="square">
            <a:spAutoFit/>
          </a:bodyPr>
          <a:lstStyle/>
          <a:p>
            <a:pPr algn="l"/>
            <a:r>
              <a:rPr sz="1100" b="0" i="0">
                <a:solidFill>
                  <a:srgbClr val="CCD6E0"/>
                </a:solidFill>
              </a:rPr>
              <a:t>Bartholdi, J. J., &amp; Hackman, S. T. (2019). Warehouse &amp; Distribution Science (Release 0.98). The Supply Chain and Logistics Institute, Georgia Tech.</a:t>
            </a:r>
          </a:p>
        </p:txBody>
      </p:sp>
      <p:sp>
        <p:nvSpPr>
          <p:cNvPr id="13" name="Rectangle 12"/>
          <p:cNvSpPr/>
          <p:nvPr/>
        </p:nvSpPr>
        <p:spPr>
          <a:xfrm>
            <a:off x="274320" y="2249424"/>
            <a:ext cx="502920" cy="438912"/>
          </a:xfrm>
          <a:prstGeom prst="rect">
            <a:avLst/>
          </a:prstGeom>
          <a:solidFill>
            <a:srgbClr val="005F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92608" y="2286000"/>
            <a:ext cx="466344" cy="347472"/>
          </a:xfrm>
          <a:prstGeom prst="rect">
            <a:avLst/>
          </a:prstGeom>
          <a:noFill/>
        </p:spPr>
        <p:txBody>
          <a:bodyPr wrap="square">
            <a:spAutoFit/>
          </a:bodyPr>
          <a:lstStyle/>
          <a:p>
            <a:pPr algn="ctr"/>
            <a:r>
              <a:rPr sz="1100" b="1" i="0">
                <a:solidFill>
                  <a:srgbClr val="FFFFFF"/>
                </a:solidFill>
              </a:rPr>
              <a:t>[3]</a:t>
            </a:r>
          </a:p>
        </p:txBody>
      </p:sp>
      <p:sp>
        <p:nvSpPr>
          <p:cNvPr id="15" name="TextBox 14"/>
          <p:cNvSpPr txBox="1"/>
          <p:nvPr/>
        </p:nvSpPr>
        <p:spPr>
          <a:xfrm>
            <a:off x="868680" y="2286000"/>
            <a:ext cx="11064240" cy="402336"/>
          </a:xfrm>
          <a:prstGeom prst="rect">
            <a:avLst/>
          </a:prstGeom>
          <a:noFill/>
        </p:spPr>
        <p:txBody>
          <a:bodyPr wrap="square">
            <a:spAutoFit/>
          </a:bodyPr>
          <a:lstStyle/>
          <a:p>
            <a:pPr algn="l"/>
            <a:r>
              <a:rPr sz="1100" b="0" i="0">
                <a:solidFill>
                  <a:srgbClr val="CCD6E0"/>
                </a:solidFill>
              </a:rPr>
              <a:t>De Koster, R., Le-Duc, T., &amp; Roodbergen, K. J. (2007). Design and control of warehouse order picking: A literature review. European Journal of Operational Research, 182(2), 481–501.</a:t>
            </a:r>
          </a:p>
        </p:txBody>
      </p:sp>
      <p:sp>
        <p:nvSpPr>
          <p:cNvPr id="16" name="Rectangle 15"/>
          <p:cNvSpPr/>
          <p:nvPr/>
        </p:nvSpPr>
        <p:spPr>
          <a:xfrm>
            <a:off x="274320" y="2779776"/>
            <a:ext cx="502920" cy="438912"/>
          </a:xfrm>
          <a:prstGeom prst="rect">
            <a:avLst/>
          </a:prstGeom>
          <a:solidFill>
            <a:srgbClr val="005F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92608" y="2816352"/>
            <a:ext cx="466344" cy="347472"/>
          </a:xfrm>
          <a:prstGeom prst="rect">
            <a:avLst/>
          </a:prstGeom>
          <a:noFill/>
        </p:spPr>
        <p:txBody>
          <a:bodyPr wrap="square">
            <a:spAutoFit/>
          </a:bodyPr>
          <a:lstStyle/>
          <a:p>
            <a:pPr algn="ctr"/>
            <a:r>
              <a:rPr sz="1100" b="1" i="0">
                <a:solidFill>
                  <a:srgbClr val="FFFFFF"/>
                </a:solidFill>
              </a:rPr>
              <a:t>[4]</a:t>
            </a:r>
          </a:p>
        </p:txBody>
      </p:sp>
      <p:sp>
        <p:nvSpPr>
          <p:cNvPr id="18" name="TextBox 17"/>
          <p:cNvSpPr txBox="1"/>
          <p:nvPr/>
        </p:nvSpPr>
        <p:spPr>
          <a:xfrm>
            <a:off x="868680" y="2816352"/>
            <a:ext cx="11064240" cy="402336"/>
          </a:xfrm>
          <a:prstGeom prst="rect">
            <a:avLst/>
          </a:prstGeom>
          <a:noFill/>
        </p:spPr>
        <p:txBody>
          <a:bodyPr wrap="square">
            <a:spAutoFit/>
          </a:bodyPr>
          <a:lstStyle/>
          <a:p>
            <a:pPr algn="l"/>
            <a:r>
              <a:rPr sz="1100" b="0" i="0">
                <a:solidFill>
                  <a:srgbClr val="CCD6E0"/>
                </a:solidFill>
              </a:rPr>
              <a:t>Boysen, N., Fliedner, M., &amp; Scholl, A. (2010). Scheduling inbound and outbound trucks at cross docking terminals. OR Spectrum, 32(1), 135–161.</a:t>
            </a:r>
          </a:p>
        </p:txBody>
      </p:sp>
      <p:sp>
        <p:nvSpPr>
          <p:cNvPr id="19" name="Rectangle 18"/>
          <p:cNvSpPr/>
          <p:nvPr/>
        </p:nvSpPr>
        <p:spPr>
          <a:xfrm>
            <a:off x="274320" y="3310128"/>
            <a:ext cx="502920" cy="438912"/>
          </a:xfrm>
          <a:prstGeom prst="rect">
            <a:avLst/>
          </a:prstGeom>
          <a:solidFill>
            <a:srgbClr val="005F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92608" y="3346704"/>
            <a:ext cx="466344" cy="347472"/>
          </a:xfrm>
          <a:prstGeom prst="rect">
            <a:avLst/>
          </a:prstGeom>
          <a:noFill/>
        </p:spPr>
        <p:txBody>
          <a:bodyPr wrap="square">
            <a:spAutoFit/>
          </a:bodyPr>
          <a:lstStyle/>
          <a:p>
            <a:pPr algn="ctr"/>
            <a:r>
              <a:rPr sz="1100" b="1" i="0">
                <a:solidFill>
                  <a:srgbClr val="FFFFFF"/>
                </a:solidFill>
              </a:rPr>
              <a:t>[5]</a:t>
            </a:r>
          </a:p>
        </p:txBody>
      </p:sp>
      <p:sp>
        <p:nvSpPr>
          <p:cNvPr id="21" name="TextBox 20"/>
          <p:cNvSpPr txBox="1"/>
          <p:nvPr/>
        </p:nvSpPr>
        <p:spPr>
          <a:xfrm>
            <a:off x="868680" y="3346704"/>
            <a:ext cx="11064240" cy="402336"/>
          </a:xfrm>
          <a:prstGeom prst="rect">
            <a:avLst/>
          </a:prstGeom>
          <a:noFill/>
        </p:spPr>
        <p:txBody>
          <a:bodyPr wrap="square">
            <a:spAutoFit/>
          </a:bodyPr>
          <a:lstStyle/>
          <a:p>
            <a:pPr algn="l"/>
            <a:r>
              <a:rPr sz="1100" b="0" i="0">
                <a:solidFill>
                  <a:srgbClr val="CCD6E0"/>
                </a:solidFill>
              </a:rPr>
              <a:t>Guo, Z. X., Ngai, E. W. T., Yang, C., &amp; Liang, X. (2015). An RFID-based intelligent decision support system architecture for production monitoring and scheduling in a distributed manufacturing environment. International Journal of Production Economics, 159, 16–28.</a:t>
            </a:r>
          </a:p>
        </p:txBody>
      </p:sp>
      <p:sp>
        <p:nvSpPr>
          <p:cNvPr id="22" name="Rectangle 21"/>
          <p:cNvSpPr/>
          <p:nvPr/>
        </p:nvSpPr>
        <p:spPr>
          <a:xfrm>
            <a:off x="274320" y="3840480"/>
            <a:ext cx="502920" cy="438912"/>
          </a:xfrm>
          <a:prstGeom prst="rect">
            <a:avLst/>
          </a:prstGeom>
          <a:solidFill>
            <a:srgbClr val="005F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292608" y="3877056"/>
            <a:ext cx="466344" cy="347472"/>
          </a:xfrm>
          <a:prstGeom prst="rect">
            <a:avLst/>
          </a:prstGeom>
          <a:noFill/>
        </p:spPr>
        <p:txBody>
          <a:bodyPr wrap="square">
            <a:spAutoFit/>
          </a:bodyPr>
          <a:lstStyle/>
          <a:p>
            <a:pPr algn="ctr"/>
            <a:r>
              <a:rPr sz="1100" b="1" i="0">
                <a:solidFill>
                  <a:srgbClr val="FFFFFF"/>
                </a:solidFill>
              </a:rPr>
              <a:t>[6]</a:t>
            </a:r>
          </a:p>
        </p:txBody>
      </p:sp>
      <p:sp>
        <p:nvSpPr>
          <p:cNvPr id="24" name="TextBox 23"/>
          <p:cNvSpPr txBox="1"/>
          <p:nvPr/>
        </p:nvSpPr>
        <p:spPr>
          <a:xfrm>
            <a:off x="868680" y="3877056"/>
            <a:ext cx="11064240" cy="402336"/>
          </a:xfrm>
          <a:prstGeom prst="rect">
            <a:avLst/>
          </a:prstGeom>
          <a:noFill/>
        </p:spPr>
        <p:txBody>
          <a:bodyPr wrap="square">
            <a:spAutoFit/>
          </a:bodyPr>
          <a:lstStyle/>
          <a:p>
            <a:pPr algn="l"/>
            <a:r>
              <a:rPr sz="1100" b="0" i="0">
                <a:solidFill>
                  <a:srgbClr val="CCD6E0"/>
                </a:solidFill>
              </a:rPr>
              <a:t>Tiangco, S., et al. (2023). Real-time event streaming in web applications using Server-Sent Events. Journal of Web Engineering, 22(4).</a:t>
            </a:r>
          </a:p>
        </p:txBody>
      </p:sp>
      <p:sp>
        <p:nvSpPr>
          <p:cNvPr id="25" name="Rectangle 24"/>
          <p:cNvSpPr/>
          <p:nvPr/>
        </p:nvSpPr>
        <p:spPr>
          <a:xfrm>
            <a:off x="274320" y="4370831"/>
            <a:ext cx="502920" cy="438912"/>
          </a:xfrm>
          <a:prstGeom prst="rect">
            <a:avLst/>
          </a:prstGeom>
          <a:solidFill>
            <a:srgbClr val="005F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92608" y="4407407"/>
            <a:ext cx="466344" cy="347472"/>
          </a:xfrm>
          <a:prstGeom prst="rect">
            <a:avLst/>
          </a:prstGeom>
          <a:noFill/>
        </p:spPr>
        <p:txBody>
          <a:bodyPr wrap="square">
            <a:spAutoFit/>
          </a:bodyPr>
          <a:lstStyle/>
          <a:p>
            <a:pPr algn="ctr"/>
            <a:r>
              <a:rPr sz="1100" b="1" i="0">
                <a:solidFill>
                  <a:srgbClr val="FFFFFF"/>
                </a:solidFill>
              </a:rPr>
              <a:t>[7]</a:t>
            </a:r>
          </a:p>
        </p:txBody>
      </p:sp>
      <p:sp>
        <p:nvSpPr>
          <p:cNvPr id="27" name="TextBox 26"/>
          <p:cNvSpPr txBox="1"/>
          <p:nvPr/>
        </p:nvSpPr>
        <p:spPr>
          <a:xfrm>
            <a:off x="868680" y="4407407"/>
            <a:ext cx="11064240" cy="402336"/>
          </a:xfrm>
          <a:prstGeom prst="rect">
            <a:avLst/>
          </a:prstGeom>
          <a:noFill/>
        </p:spPr>
        <p:txBody>
          <a:bodyPr wrap="square">
            <a:spAutoFit/>
          </a:bodyPr>
          <a:lstStyle/>
          <a:p>
            <a:pPr algn="l"/>
            <a:r>
              <a:rPr sz="1100" b="0" i="0">
                <a:solidFill>
                  <a:srgbClr val="CCD6E0"/>
                </a:solidFill>
              </a:rPr>
              <a:t>PostgreSQL Global Development Group. (2024). PostgreSQL 16 Documentation. https://www.postgresql.org/docs/</a:t>
            </a:r>
          </a:p>
        </p:txBody>
      </p:sp>
      <p:sp>
        <p:nvSpPr>
          <p:cNvPr id="28" name="Rectangle 27"/>
          <p:cNvSpPr/>
          <p:nvPr/>
        </p:nvSpPr>
        <p:spPr>
          <a:xfrm>
            <a:off x="274320" y="4901183"/>
            <a:ext cx="502920" cy="438912"/>
          </a:xfrm>
          <a:prstGeom prst="rect">
            <a:avLst/>
          </a:prstGeom>
          <a:solidFill>
            <a:srgbClr val="005F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292608" y="4937759"/>
            <a:ext cx="466344" cy="347472"/>
          </a:xfrm>
          <a:prstGeom prst="rect">
            <a:avLst/>
          </a:prstGeom>
          <a:noFill/>
        </p:spPr>
        <p:txBody>
          <a:bodyPr wrap="square">
            <a:spAutoFit/>
          </a:bodyPr>
          <a:lstStyle/>
          <a:p>
            <a:pPr algn="ctr"/>
            <a:r>
              <a:rPr sz="1100" b="1" i="0">
                <a:solidFill>
                  <a:srgbClr val="FFFFFF"/>
                </a:solidFill>
              </a:rPr>
              <a:t>[8]</a:t>
            </a:r>
          </a:p>
        </p:txBody>
      </p:sp>
      <p:sp>
        <p:nvSpPr>
          <p:cNvPr id="30" name="TextBox 29"/>
          <p:cNvSpPr txBox="1"/>
          <p:nvPr/>
        </p:nvSpPr>
        <p:spPr>
          <a:xfrm>
            <a:off x="868680" y="4937759"/>
            <a:ext cx="11064240" cy="402336"/>
          </a:xfrm>
          <a:prstGeom prst="rect">
            <a:avLst/>
          </a:prstGeom>
          <a:noFill/>
        </p:spPr>
        <p:txBody>
          <a:bodyPr wrap="square">
            <a:spAutoFit/>
          </a:bodyPr>
          <a:lstStyle/>
          <a:p>
            <a:pPr algn="l"/>
            <a:r>
              <a:rPr sz="1100" b="0" i="0">
                <a:solidFill>
                  <a:srgbClr val="CCD6E0"/>
                </a:solidFill>
              </a:rPr>
              <a:t>Ramírez, S. (2023). FastAPI Documentation — Modern, Fast Web Framework for Python. https://fastapi.tiangolo.com/</a:t>
            </a:r>
          </a:p>
        </p:txBody>
      </p:sp>
      <p:sp>
        <p:nvSpPr>
          <p:cNvPr id="31" name="Rectangle 30"/>
          <p:cNvSpPr/>
          <p:nvPr/>
        </p:nvSpPr>
        <p:spPr>
          <a:xfrm>
            <a:off x="274320" y="5431536"/>
            <a:ext cx="502920" cy="438912"/>
          </a:xfrm>
          <a:prstGeom prst="rect">
            <a:avLst/>
          </a:prstGeom>
          <a:solidFill>
            <a:srgbClr val="005F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92608" y="5468112"/>
            <a:ext cx="466344" cy="347472"/>
          </a:xfrm>
          <a:prstGeom prst="rect">
            <a:avLst/>
          </a:prstGeom>
          <a:noFill/>
        </p:spPr>
        <p:txBody>
          <a:bodyPr wrap="square">
            <a:spAutoFit/>
          </a:bodyPr>
          <a:lstStyle/>
          <a:p>
            <a:pPr algn="ctr"/>
            <a:r>
              <a:rPr sz="1100" b="1" i="0">
                <a:solidFill>
                  <a:srgbClr val="FFFFFF"/>
                </a:solidFill>
              </a:rPr>
              <a:t>[9]</a:t>
            </a:r>
          </a:p>
        </p:txBody>
      </p:sp>
      <p:sp>
        <p:nvSpPr>
          <p:cNvPr id="33" name="TextBox 32"/>
          <p:cNvSpPr txBox="1"/>
          <p:nvPr/>
        </p:nvSpPr>
        <p:spPr>
          <a:xfrm>
            <a:off x="868680" y="5468112"/>
            <a:ext cx="11064240" cy="402336"/>
          </a:xfrm>
          <a:prstGeom prst="rect">
            <a:avLst/>
          </a:prstGeom>
          <a:noFill/>
        </p:spPr>
        <p:txBody>
          <a:bodyPr wrap="square">
            <a:spAutoFit/>
          </a:bodyPr>
          <a:lstStyle/>
          <a:p>
            <a:pPr algn="l"/>
            <a:r>
              <a:rPr sz="1100" b="0" i="0">
                <a:solidFill>
                  <a:srgbClr val="CCD6E0"/>
                </a:solidFill>
              </a:rPr>
              <a:t>Facebook Open Source. (2024). React 19 Documentation. https://react.dev/</a:t>
            </a:r>
          </a:p>
        </p:txBody>
      </p:sp>
      <p:sp>
        <p:nvSpPr>
          <p:cNvPr id="34" name="Rectangle 33"/>
          <p:cNvSpPr/>
          <p:nvPr/>
        </p:nvSpPr>
        <p:spPr>
          <a:xfrm>
            <a:off x="274320" y="5961888"/>
            <a:ext cx="502920" cy="438912"/>
          </a:xfrm>
          <a:prstGeom prst="rect">
            <a:avLst/>
          </a:prstGeom>
          <a:solidFill>
            <a:srgbClr val="005F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292608" y="5998464"/>
            <a:ext cx="466344" cy="347472"/>
          </a:xfrm>
          <a:prstGeom prst="rect">
            <a:avLst/>
          </a:prstGeom>
          <a:noFill/>
        </p:spPr>
        <p:txBody>
          <a:bodyPr wrap="square">
            <a:spAutoFit/>
          </a:bodyPr>
          <a:lstStyle/>
          <a:p>
            <a:pPr algn="ctr"/>
            <a:r>
              <a:rPr sz="1100" b="1" i="0">
                <a:solidFill>
                  <a:srgbClr val="FFFFFF"/>
                </a:solidFill>
              </a:rPr>
              <a:t>[10]</a:t>
            </a:r>
          </a:p>
        </p:txBody>
      </p:sp>
      <p:sp>
        <p:nvSpPr>
          <p:cNvPr id="36" name="TextBox 35"/>
          <p:cNvSpPr txBox="1"/>
          <p:nvPr/>
        </p:nvSpPr>
        <p:spPr>
          <a:xfrm>
            <a:off x="868680" y="5998464"/>
            <a:ext cx="11064240" cy="402336"/>
          </a:xfrm>
          <a:prstGeom prst="rect">
            <a:avLst/>
          </a:prstGeom>
          <a:noFill/>
        </p:spPr>
        <p:txBody>
          <a:bodyPr wrap="square">
            <a:spAutoFit/>
          </a:bodyPr>
          <a:lstStyle/>
          <a:p>
            <a:pPr algn="l"/>
            <a:r>
              <a:rPr sz="1100" b="0" i="0">
                <a:solidFill>
                  <a:srgbClr val="CCD6E0"/>
                </a:solidFill>
              </a:rPr>
              <a:t>The Sinatra Authors. (2024). Sinatra: A DSL for quickly creating web apps in Ruby. http://sinatrarb.com/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6</TotalTime>
  <Words>2207</Words>
  <Application>Microsoft Office PowerPoint</Application>
  <PresentationFormat>Custom</PresentationFormat>
  <Paragraphs>276</Paragraphs>
  <Slides>12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Shihil SSA</cp:lastModifiedBy>
  <cp:revision>2</cp:revision>
  <dcterms:created xsi:type="dcterms:W3CDTF">2013-01-27T09:14:16Z</dcterms:created>
  <dcterms:modified xsi:type="dcterms:W3CDTF">2026-04-05T06:55:34Z</dcterms:modified>
  <cp:category/>
</cp:coreProperties>
</file>